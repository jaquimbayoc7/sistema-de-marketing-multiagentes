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314" r:id="rId2"/>
    <p:sldId id="309" r:id="rId3"/>
    <p:sldId id="259" r:id="rId4"/>
    <p:sldId id="278" r:id="rId5"/>
    <p:sldId id="284" r:id="rId6"/>
    <p:sldId id="262" r:id="rId7"/>
    <p:sldId id="263" r:id="rId8"/>
    <p:sldId id="264" r:id="rId9"/>
    <p:sldId id="290" r:id="rId10"/>
    <p:sldId id="266" r:id="rId11"/>
    <p:sldId id="293" r:id="rId12"/>
    <p:sldId id="268" r:id="rId13"/>
    <p:sldId id="269" r:id="rId14"/>
    <p:sldId id="270" r:id="rId15"/>
    <p:sldId id="320" r:id="rId16"/>
    <p:sldId id="313" r:id="rId17"/>
    <p:sldId id="298" r:id="rId18"/>
    <p:sldId id="316" r:id="rId19"/>
    <p:sldId id="319" r:id="rId20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D92132-AFF7-27BE-EA27-4478770599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96DBFF-D061-FD4B-3868-16B72E21C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69D0E9-9454-45A4-2A3F-DB2325170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CFB5F-2334-4A33-9BF8-99C5DE0539E5}" type="datetimeFigureOut">
              <a:rPr lang="es-CO" smtClean="0"/>
              <a:t>29/04/2026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D7DDC4-D2AE-BCE4-AB31-4FA8BC529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6EF877-7191-4C3B-F1DD-5828D0E66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400E-34BC-443C-A4E4-39827E30CE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7213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9AA33-8A2D-4989-5A40-489B0E92E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D3BD9F-F35A-C719-C12D-BDB8031A2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68B250-45FE-C5E7-DC54-05763D080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CFB5F-2334-4A33-9BF8-99C5DE0539E5}" type="datetimeFigureOut">
              <a:rPr lang="es-CO" smtClean="0"/>
              <a:t>29/04/2026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EDEEFB-48A6-17C5-00CD-208275383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B750CC-FB8F-55C7-9BCC-CAF3FF81A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400E-34BC-443C-A4E4-39827E30CE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1376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173E1A-4409-EED9-EC9C-92C75F1E0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4488A57-E08F-B122-8314-40F8997BC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5B31C0-A233-54B7-5B61-CAD29E73E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CFB5F-2334-4A33-9BF8-99C5DE0539E5}" type="datetimeFigureOut">
              <a:rPr lang="es-CO" smtClean="0"/>
              <a:t>29/04/2026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67F213-65B4-06B4-B520-DE2C5D8B5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5C9F33-D20E-4359-80E5-89A4E3757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400E-34BC-443C-A4E4-39827E30CE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6390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90775F-C53F-ED90-05D2-BEE24D6FA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F1BF32-FA28-0052-1378-51E9B79159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E46FD7C-D17C-4E91-A1FF-C9AC48FC2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E220ED4-D570-637E-C6EA-9DB36FE02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CFB5F-2334-4A33-9BF8-99C5DE0539E5}" type="datetimeFigureOut">
              <a:rPr lang="es-CO" smtClean="0"/>
              <a:t>29/04/2026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E52E96-9BF6-6003-1141-CCD5C39F3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D89AC2-ADCE-FF2C-3251-5AADECF16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400E-34BC-443C-A4E4-39827E30CE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5915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36012C-A7BB-1349-8C5B-660FCE25A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EA0CFC-1F8F-67CA-E56E-92FC93EF65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B886AC9-A7EA-2F01-5D39-0576321F2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C76CA8A-E7C2-8042-A93D-A84B7096DD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912B95E-F2A0-F4F2-7FBA-4DA66FC8C3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E28EFE6-6502-51A5-CEFA-57314E8EC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CFB5F-2334-4A33-9BF8-99C5DE0539E5}" type="datetimeFigureOut">
              <a:rPr lang="es-CO" smtClean="0"/>
              <a:t>29/04/2026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7740C33-5B04-D2ED-CC30-DFA80A019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3C779DF-E076-3B75-E3B3-EDC0BBA21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400E-34BC-443C-A4E4-39827E30CE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709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1B6B99-539A-36FE-2F12-36602384E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05E9F71-27F4-105E-2662-AE3C7496F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CFB5F-2334-4A33-9BF8-99C5DE0539E5}" type="datetimeFigureOut">
              <a:rPr lang="es-CO" smtClean="0"/>
              <a:t>29/04/2026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1E4A4A-DEB4-CC32-973C-EF6E42C79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52522AA-6C90-358A-D1A4-14D598FB9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400E-34BC-443C-A4E4-39827E30CE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07394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DDD5D45-07C3-2068-341C-3906EF149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CFB5F-2334-4A33-9BF8-99C5DE0539E5}" type="datetimeFigureOut">
              <a:rPr lang="es-CO" smtClean="0"/>
              <a:t>29/04/2026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F8A8F9D-B122-9FCF-D509-3B0D948BD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84CC43-95A1-1B23-9479-398410C38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400E-34BC-443C-A4E4-39827E30CE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8492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578364-170C-E5EC-6F87-BFD8249C1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E2EBE8-5CA0-3BB1-5E15-DCAECB43E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F985724-8D0E-3C5D-E694-0D6576071E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2C2690-00CD-2F00-2367-8A1CD4275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CFB5F-2334-4A33-9BF8-99C5DE0539E5}" type="datetimeFigureOut">
              <a:rPr lang="es-CO" smtClean="0"/>
              <a:t>29/04/2026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9B61077-A9D5-05B1-A851-D8C78B838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4DBBED-9A70-A4F3-0CC8-7FEC05F0B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400E-34BC-443C-A4E4-39827E30CE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9975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E5DD1-88F0-8BC5-4BB8-6E7562D80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C68671D-14CE-90B1-D718-C99F2C44FF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A219349-4B13-EA0E-99A0-C3E13E784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5A46335-2D61-9559-F75D-BB4AB3143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CFB5F-2334-4A33-9BF8-99C5DE0539E5}" type="datetimeFigureOut">
              <a:rPr lang="es-CO" smtClean="0"/>
              <a:t>29/04/2026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1BF240-4560-DFFF-46B7-20BEA6F25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1DAC81-F656-AC29-9091-F21691D5B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400E-34BC-443C-A4E4-39827E30CE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60515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CDC1D5-3C1E-D5B7-B476-084F37B41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C8CA0-E471-4C60-78C6-017B078B64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E9240E-F600-4656-DEBC-3874FBE22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CFB5F-2334-4A33-9BF8-99C5DE0539E5}" type="datetimeFigureOut">
              <a:rPr lang="es-CO" smtClean="0"/>
              <a:t>29/04/2026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19B372B-0573-2F29-D3C8-E8B2F4485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BA3CAD-696B-D665-1316-45EE50C8D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400E-34BC-443C-A4E4-39827E30CE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85795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E4C11E0-3564-7361-7358-46510293CD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F1A73AF-7F9F-1748-9B0E-BBCAEC7031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DA53D9-C014-F8E4-621C-BB22D5BE6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CFB5F-2334-4A33-9BF8-99C5DE0539E5}" type="datetimeFigureOut">
              <a:rPr lang="es-CO" smtClean="0"/>
              <a:t>29/04/2026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48A20BC-A7C8-E366-0AC2-B42E1D96B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C8E9B7-42A9-4792-CF09-BF1CB8C72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1A400E-34BC-443C-A4E4-39827E30CE6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7187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D1B2A"/>
            </a:gs>
            <a:gs pos="50000">
              <a:srgbClr val="122240"/>
            </a:gs>
            <a:gs pos="100000">
              <a:srgbClr val="0A1628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5A56004-7965-2DA0-0529-E8CA78B69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7372492-CC12-E800-E74E-839392849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E4A1CF-32FB-9B0F-7546-7D8198C256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CCFB5F-2334-4A33-9BF8-99C5DE0539E5}" type="datetimeFigureOut">
              <a:rPr lang="es-CO" smtClean="0"/>
              <a:t>29/04/2026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7C90D6-9625-FEBA-8714-025F39A1F9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1EC3D1-F99D-5E6F-0B83-773AEE335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1A400E-34BC-443C-A4E4-39827E30CE63}" type="slidenum">
              <a:rPr lang="es-CO" smtClean="0"/>
              <a:t>‹Nº›</a:t>
            </a:fld>
            <a:endParaRPr lang="es-CO"/>
          </a:p>
        </p:txBody>
      </p:sp>
      <p:sp>
        <p:nvSpPr>
          <p:cNvPr id="100" name="AccentBar"/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gradFill>
            <a:gsLst>
              <a:gs pos="0">
                <a:srgbClr val="00D4AA"/>
              </a:gs>
              <a:gs pos="50000">
                <a:srgbClr val="7B68EE"/>
              </a:gs>
              <a:gs pos="100000">
                <a:srgbClr val="6C5CE7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1" name="TopAccent"/>
          <p:cNvSpPr/>
          <p:nvPr userDrawn="1"/>
        </p:nvSpPr>
        <p:spPr>
          <a:xfrm>
            <a:off x="0" y="0"/>
            <a:ext cx="1828800" cy="76200"/>
          </a:xfrm>
          <a:prstGeom prst="rect">
            <a:avLst/>
          </a:prstGeom>
          <a:gradFill>
            <a:gsLst>
              <a:gs pos="0">
                <a:srgbClr val="00D4AA">
                  <a:alpha val="80000"/>
                </a:srgbClr>
              </a:gs>
              <a:gs pos="100000">
                <a:srgbClr val="00D4AA">
                  <a:alpha val="0"/>
                </a:srgbClr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201" name="Logo FLISol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52000" y="101600"/>
            <a:ext cx="1460500" cy="660400"/>
          </a:xfrm>
          <a:prstGeom prst="rect">
            <a:avLst/>
          </a:prstGeom>
          <a:ln>
            <a:noFill/>
          </a:ln>
        </p:spPr>
      </p:pic>
      <p:pic>
        <p:nvPicPr>
          <p:cNvPr id="202" name="Logo COSCU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64900" y="101600"/>
            <a:ext cx="749300" cy="6604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1647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0F0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8D6E5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C8D6E5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C8D6E5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8D6E5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8D6E5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8D6E5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8D6E5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8D6E5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8D6E5"/>
          </a:solidFill>
          <a:latin typeface="+mn-lt"/>
          <a:ea typeface="+mn-ea"/>
          <a:cs typeface="+mn-cs"/>
        </a:defRPr>
      </a:lvl9pPr>
    </p:bodyStyle>
    <p:otherStyle>
      <a:defPPr>
        <a:defRPr lang="es-CO">
          <a:solidFill>
            <a:srgbClr val="C8D6E5"/>
          </a:solidFill>
        </a:defRPr>
      </a:defPPr>
      <a:lvl1pPr marL="0" algn="l" defTabSz="914400" rtl="0" eaLnBrk="1" latinLnBrk="0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C8D6E5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08ED8D-EFD7-577A-BA23-407FC6096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08000"/>
            <a:ext cx="9144000" cy="1651000"/>
          </a:xfrm>
        </p:spPr>
        <p:txBody>
          <a:bodyPr>
            <a:normAutofit fontScale="90000"/>
          </a:bodyPr>
          <a:lstStyle/>
          <a:p>
            <a:r>
              <a:rPr lang="es-CO" dirty="0"/>
              <a:t>Sistema de Marketing con Multiagentes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CE0BD0-2C9E-FC65-04C8-960379A88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6000" y="2222500"/>
            <a:ext cx="10160000" cy="4318000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es-CO" dirty="0">
              <a:solidFill>
                <a:srgbClr val="00D4AA"/>
              </a:solidFill>
            </a:endParaRPr>
          </a:p>
          <a:p>
            <a:pPr algn="ctr">
              <a:buNone/>
            </a:pPr>
            <a:r>
              <a:rPr lang="es-CO" dirty="0">
                <a:solidFill>
                  <a:srgbClr val="00D4AA"/>
                </a:solidFill>
              </a:rPr>
              <a:t>Agentes de IA · LangGraph · Claude · Streamlit</a:t>
            </a:r>
          </a:p>
          <a:p>
            <a:pPr algn="ctr">
              <a:buNone/>
            </a:pPr>
            <a:endParaRPr lang="es-CO" sz="1500" b="1" dirty="0">
              <a:solidFill>
                <a:srgbClr val="FFFFFF"/>
              </a:solidFill>
            </a:endParaRPr>
          </a:p>
          <a:p>
            <a:pPr algn="ctr">
              <a:buNone/>
            </a:pPr>
            <a:endParaRPr lang="es-CO" sz="1500" b="1" dirty="0">
              <a:solidFill>
                <a:srgbClr val="FFFFFF"/>
              </a:solidFill>
            </a:endParaRPr>
          </a:p>
          <a:p>
            <a:pPr algn="ctr">
              <a:buNone/>
            </a:pPr>
            <a:r>
              <a:rPr lang="es-CO" sz="1900" b="1" dirty="0">
                <a:solidFill>
                  <a:srgbClr val="FFFFFF"/>
                </a:solidFill>
              </a:rPr>
              <a:t>Ing. Julian Andres Quimbayo Castro</a:t>
            </a:r>
            <a:r>
              <a:rPr lang="es-CO" sz="1900" dirty="0">
                <a:solidFill>
                  <a:srgbClr val="8EEEDD"/>
                </a:solidFill>
              </a:rPr>
              <a:t>  —  julian.quimbayo@corhuila.edu.co</a:t>
            </a:r>
          </a:p>
          <a:p>
            <a:pPr algn="ctr">
              <a:buNone/>
            </a:pPr>
            <a:r>
              <a:rPr lang="es-CO" sz="1900" b="1" dirty="0">
                <a:solidFill>
                  <a:srgbClr val="FFFFFF"/>
                </a:solidFill>
              </a:rPr>
              <a:t>Ing. Alvaro Hernan Alarcon Lopez</a:t>
            </a:r>
            <a:r>
              <a:rPr lang="es-CO" sz="1900" dirty="0">
                <a:solidFill>
                  <a:srgbClr val="8EEEDD"/>
                </a:solidFill>
              </a:rPr>
              <a:t>  —  alvaro.alarcon@corhuila.edu.co</a:t>
            </a:r>
          </a:p>
          <a:p>
            <a:pPr algn="ctr">
              <a:buNone/>
            </a:pPr>
            <a:r>
              <a:rPr lang="es-CO" sz="1900" b="1" dirty="0">
                <a:solidFill>
                  <a:srgbClr val="FFFFFF"/>
                </a:solidFill>
              </a:rPr>
              <a:t>Ing. Jose Miguel Llanos Mosquera</a:t>
            </a:r>
            <a:r>
              <a:rPr lang="es-CO" sz="1900" dirty="0">
                <a:solidFill>
                  <a:srgbClr val="8EEEDD"/>
                </a:solidFill>
              </a:rPr>
              <a:t>  —  jmllanosm@corhuila.edu.co</a:t>
            </a:r>
          </a:p>
          <a:p>
            <a:pPr algn="ctr">
              <a:buNone/>
            </a:pPr>
            <a:endParaRPr lang="es-CO" sz="1900" dirty="0">
              <a:solidFill>
                <a:srgbClr val="8EEEDD"/>
              </a:solidFill>
            </a:endParaRPr>
          </a:p>
          <a:p>
            <a:pPr algn="ctr">
              <a:buNone/>
            </a:pPr>
            <a:r>
              <a:rPr lang="es-CO" sz="1900" dirty="0">
                <a:solidFill>
                  <a:srgbClr val="FFFFFF"/>
                </a:solidFill>
              </a:rPr>
              <a:t>Corporación Universitaria del Huila — CORHUILA</a:t>
            </a:r>
          </a:p>
          <a:p>
            <a:pPr algn="ctr">
              <a:buNone/>
            </a:pPr>
            <a:r>
              <a:rPr lang="es-CO" sz="1900" dirty="0">
                <a:solidFill>
                  <a:srgbClr val="FFFFFF"/>
                </a:solidFill>
              </a:rPr>
              <a:t>Facultad de Ingeniería — Ingeniería de Sistemas</a:t>
            </a:r>
          </a:p>
          <a:p>
            <a:pPr algn="ctr">
              <a:buNone/>
            </a:pPr>
            <a:r>
              <a:rPr lang="es-CO" sz="1900" b="1" dirty="0">
                <a:solidFill>
                  <a:srgbClr val="00D4AA"/>
                </a:solidFill>
              </a:rPr>
              <a:t>2026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646F1CD-BC8A-4B4A-BD44-DC2F07A17730}"/>
              </a:ext>
            </a:extLst>
          </p:cNvPr>
          <p:cNvSpPr/>
          <p:nvPr/>
        </p:nvSpPr>
        <p:spPr>
          <a:xfrm>
            <a:off x="9695329" y="0"/>
            <a:ext cx="2496671" cy="825500"/>
          </a:xfrm>
          <a:prstGeom prst="rect">
            <a:avLst/>
          </a:prstGeom>
          <a:solidFill>
            <a:srgbClr val="0D1B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77393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6ECAF8-5E69-F1FC-3F64-03EFE02B4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E300EF-1615-BEE8-5CD8-6B74DAFBFE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s-ES" sz="1600" b="1" dirty="0">
                <a:solidFill>
                  <a:srgbClr val="00D4AA"/>
                </a:solidFill>
              </a:rPr>
              <a:t>01  </a:t>
            </a:r>
            <a:r>
              <a:rPr lang="es-ES" sz="1600" dirty="0">
                <a:solidFill>
                  <a:srgbClr val="F0F0F0"/>
                </a:solidFill>
              </a:rPr>
              <a:t>¿Qué es un Agente de IA?</a:t>
            </a:r>
          </a:p>
          <a:p>
            <a:pPr marL="0" indent="0">
              <a:buNone/>
            </a:pPr>
            <a:r>
              <a:rPr lang="es-ES" sz="1600" b="1" dirty="0">
                <a:solidFill>
                  <a:srgbClr val="00D4AA"/>
                </a:solidFill>
              </a:rPr>
              <a:t>02  </a:t>
            </a:r>
            <a:r>
              <a:rPr lang="es-ES" sz="1600" dirty="0">
                <a:solidFill>
                  <a:srgbClr val="F0F0F0"/>
                </a:solidFill>
              </a:rPr>
              <a:t>Anatomía de un Agente</a:t>
            </a:r>
          </a:p>
          <a:p>
            <a:pPr marL="0" indent="0">
              <a:buNone/>
            </a:pPr>
            <a:r>
              <a:rPr lang="es-ES" sz="1600" b="1" dirty="0">
                <a:solidFill>
                  <a:srgbClr val="7B68EE"/>
                </a:solidFill>
              </a:rPr>
              <a:t>03  </a:t>
            </a:r>
            <a:r>
              <a:rPr lang="es-ES" sz="1600" dirty="0">
                <a:solidFill>
                  <a:srgbClr val="F0F0F0"/>
                </a:solidFill>
              </a:rPr>
              <a:t>Sistemas Multiagentes</a:t>
            </a:r>
          </a:p>
          <a:p>
            <a:pPr marL="0" indent="0">
              <a:buNone/>
            </a:pPr>
            <a:r>
              <a:rPr lang="es-ES" sz="1600" b="1" dirty="0">
                <a:solidFill>
                  <a:srgbClr val="7B68EE"/>
                </a:solidFill>
              </a:rPr>
              <a:t>04  </a:t>
            </a:r>
            <a:r>
              <a:rPr lang="es-ES" sz="1600" dirty="0">
                <a:solidFill>
                  <a:srgbClr val="F0F0F0"/>
                </a:solidFill>
              </a:rPr>
              <a:t>Patrones de Arquitectura</a:t>
            </a:r>
          </a:p>
          <a:p>
            <a:pPr marL="0" indent="0">
              <a:buNone/>
            </a:pPr>
            <a:r>
              <a:rPr lang="es-ES" sz="1600" b="1" dirty="0">
                <a:solidFill>
                  <a:srgbClr val="FF6B6B"/>
                </a:solidFill>
              </a:rPr>
              <a:t>05  </a:t>
            </a:r>
            <a:r>
              <a:rPr lang="es-ES" sz="1600" dirty="0">
                <a:solidFill>
                  <a:srgbClr val="F0F0F0"/>
                </a:solidFill>
              </a:rPr>
              <a:t>LangGraph: Grafos de Estado</a:t>
            </a:r>
          </a:p>
          <a:p>
            <a:pPr marL="0" indent="0">
              <a:buNone/>
            </a:pPr>
            <a:r>
              <a:rPr lang="es-ES" sz="1600" b="1" dirty="0">
                <a:solidFill>
                  <a:srgbClr val="FF6B6B"/>
                </a:solidFill>
              </a:rPr>
              <a:t>06  </a:t>
            </a:r>
            <a:r>
              <a:rPr lang="es-ES" sz="1600" dirty="0">
                <a:solidFill>
                  <a:srgbClr val="F0F0F0"/>
                </a:solidFill>
              </a:rPr>
              <a:t>Componentes de LangGraph</a:t>
            </a:r>
          </a:p>
          <a:p>
            <a:pPr marL="0" indent="0">
              <a:buNone/>
            </a:pPr>
            <a:r>
              <a:rPr lang="es-ES" sz="1600" b="1" dirty="0">
                <a:solidFill>
                  <a:srgbClr val="FFD93D"/>
                </a:solidFill>
              </a:rPr>
              <a:t>07  </a:t>
            </a:r>
            <a:r>
              <a:rPr lang="es-ES" sz="1600" dirty="0">
                <a:solidFill>
                  <a:srgbClr val="F0F0F0"/>
                </a:solidFill>
              </a:rPr>
              <a:t>Claude como Motor del Sistema</a:t>
            </a:r>
          </a:p>
          <a:p>
            <a:pPr marL="0" indent="0">
              <a:buNone/>
            </a:pPr>
            <a:r>
              <a:rPr lang="es-ES" sz="1600" b="1" dirty="0">
                <a:solidFill>
                  <a:srgbClr val="FFD93D"/>
                </a:solidFill>
              </a:rPr>
              <a:t>08  </a:t>
            </a:r>
            <a:r>
              <a:rPr lang="es-ES" sz="1600" dirty="0">
                <a:solidFill>
                  <a:srgbClr val="F0F0F0"/>
                </a:solidFill>
              </a:rPr>
              <a:t>Buenas Prácticas con Claude</a:t>
            </a:r>
          </a:p>
          <a:p>
            <a:pPr marL="0" indent="0">
              <a:buNone/>
            </a:pPr>
            <a:r>
              <a:rPr lang="es-ES" sz="1600" b="1" dirty="0">
                <a:solidFill>
                  <a:srgbClr val="4ECDC4"/>
                </a:solidFill>
              </a:rPr>
              <a:t>09  </a:t>
            </a:r>
            <a:r>
              <a:rPr lang="es-ES" sz="1600" dirty="0">
                <a:solidFill>
                  <a:srgbClr val="F0F0F0"/>
                </a:solidFill>
              </a:rPr>
              <a:t>Streamlit como Frontend</a:t>
            </a:r>
          </a:p>
          <a:p>
            <a:pPr marL="0" indent="0">
              <a:buNone/>
            </a:pPr>
            <a:r>
              <a:rPr lang="es-ES" sz="1600" b="1" dirty="0">
                <a:solidFill>
                  <a:srgbClr val="4ECDC4"/>
                </a:solidFill>
              </a:rPr>
              <a:t>10  </a:t>
            </a:r>
            <a:r>
              <a:rPr lang="es-ES" sz="1600" dirty="0">
                <a:solidFill>
                  <a:srgbClr val="F0F0F0"/>
                </a:solidFill>
              </a:rPr>
              <a:t>Arquitectura del Proyecto</a:t>
            </a:r>
          </a:p>
          <a:p>
            <a:pPr marL="0" indent="0">
              <a:buNone/>
            </a:pPr>
            <a:r>
              <a:rPr lang="es-ES" sz="1600" b="1" dirty="0">
                <a:solidFill>
                  <a:srgbClr val="6C5CE7"/>
                </a:solidFill>
              </a:rPr>
              <a:t>11  </a:t>
            </a:r>
            <a:r>
              <a:rPr lang="es-ES" sz="1600" dirty="0">
                <a:solidFill>
                  <a:srgbClr val="F0F0F0"/>
                </a:solidFill>
              </a:rPr>
              <a:t>Agentes Especializados</a:t>
            </a:r>
          </a:p>
          <a:p>
            <a:pPr marL="0" indent="0">
              <a:buNone/>
            </a:pPr>
            <a:r>
              <a:rPr lang="es-ES" sz="1600" b="1" dirty="0">
                <a:solidFill>
                  <a:srgbClr val="6C5CE7"/>
                </a:solidFill>
              </a:rPr>
              <a:t>12  </a:t>
            </a:r>
            <a:r>
              <a:rPr lang="es-ES" sz="1600" dirty="0">
                <a:solidFill>
                  <a:srgbClr val="F0F0F0"/>
                </a:solidFill>
              </a:rPr>
              <a:t>Demo: Flujo de Trabajo</a:t>
            </a:r>
          </a:p>
          <a:p>
            <a:pPr marL="0" indent="0">
              <a:buNone/>
            </a:pPr>
            <a:r>
              <a:rPr lang="es-ES" sz="1600" b="1" dirty="0">
                <a:solidFill>
                  <a:srgbClr val="00D4AA"/>
                </a:solidFill>
              </a:rPr>
              <a:t>13  </a:t>
            </a:r>
            <a:r>
              <a:rPr lang="es-ES" sz="1600" dirty="0">
                <a:solidFill>
                  <a:srgbClr val="F0F0F0"/>
                </a:solidFill>
              </a:rPr>
              <a:t>Skills del Proyecto</a:t>
            </a:r>
          </a:p>
          <a:p>
            <a:pPr marL="0" indent="0">
              <a:buNone/>
            </a:pPr>
            <a:r>
              <a:rPr lang="es-ES" sz="1600" b="1" dirty="0">
                <a:solidFill>
                  <a:srgbClr val="FF6B6B"/>
                </a:solidFill>
              </a:rPr>
              <a:t>14  </a:t>
            </a:r>
            <a:r>
              <a:rPr lang="es-ES" sz="1600" dirty="0">
                <a:solidFill>
                  <a:srgbClr val="F0F0F0"/>
                </a:solidFill>
              </a:rPr>
              <a:t>Conclusiones y Próximos Pasos</a:t>
            </a:r>
          </a:p>
        </p:txBody>
      </p:sp>
      <p:pic>
        <p:nvPicPr>
          <p:cNvPr id="4" name="Graphic 4" descr="Inteligencia Artificial - Ícono alusivo al sistema multiagent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77000" y="1274762"/>
            <a:ext cx="44450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150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43DDF1-851A-888E-1452-F57D29CED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¿Qué es un Agente de IA?</a:t>
            </a:r>
            <a:endParaRPr lang="es-CO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153A1E5-8C4A-4E07-A333-7A73E4EAC049}"/>
              </a:ext>
            </a:extLst>
          </p:cNvPr>
          <p:cNvSpPr txBox="1"/>
          <p:nvPr/>
        </p:nvSpPr>
        <p:spPr>
          <a:xfrm>
            <a:off x="635000" y="1944688"/>
            <a:ext cx="10922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600" i="1"/>
              <a:t>Un agente de IA es un sistema de software autónomo que percibe su entorno, razona sobre él y ejecuta acciones para alcanzar objetivos específicos, utilizando un LLM como motor de razonamiento.</a:t>
            </a:r>
            <a:endParaRPr lang="es-CO" sz="1600" i="1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B7BA34D0-DC34-46BF-B1A5-792491B1C0FA}"/>
              </a:ext>
            </a:extLst>
          </p:cNvPr>
          <p:cNvSpPr/>
          <p:nvPr/>
        </p:nvSpPr>
        <p:spPr>
          <a:xfrm>
            <a:off x="635000" y="3087688"/>
            <a:ext cx="2540000" cy="22860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00D4A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1B2838"/>
              </a:solidFill>
            </a:endParaRP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C61A51E6-CD8D-41DB-9B49-B0CD5FC4190D}"/>
              </a:ext>
            </a:extLst>
          </p:cNvPr>
          <p:cNvSpPr/>
          <p:nvPr/>
        </p:nvSpPr>
        <p:spPr>
          <a:xfrm>
            <a:off x="1587500" y="3278188"/>
            <a:ext cx="635000" cy="635000"/>
          </a:xfrm>
          <a:prstGeom prst="ellipse">
            <a:avLst/>
          </a:prstGeom>
          <a:solidFill>
            <a:srgbClr val="00D4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sz="2200" b="1">
                <a:solidFill>
                  <a:srgbClr val="FFFFFF"/>
                </a:solidFill>
              </a:rPr>
              <a:t>P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EB12D5E-7751-4461-ADD0-A8B39B028C24}"/>
              </a:ext>
            </a:extLst>
          </p:cNvPr>
          <p:cNvSpPr txBox="1"/>
          <p:nvPr/>
        </p:nvSpPr>
        <p:spPr>
          <a:xfrm>
            <a:off x="762000" y="4040188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600" b="1">
                <a:solidFill>
                  <a:srgbClr val="00D4AA"/>
                </a:solidFill>
              </a:rPr>
              <a:t>Percepción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517FCB3-6BDC-48FF-B5BE-4973251B458D}"/>
              </a:ext>
            </a:extLst>
          </p:cNvPr>
          <p:cNvSpPr txBox="1"/>
          <p:nvPr/>
        </p:nvSpPr>
        <p:spPr>
          <a:xfrm>
            <a:off x="762000" y="4484688"/>
            <a:ext cx="2286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es-ES" sz="1400" dirty="0">
                <a:solidFill>
                  <a:srgbClr val="C8D6E5"/>
                </a:solidFill>
              </a:rPr>
              <a:t>Recibe inputs del
entorno y usuario</a:t>
            </a:r>
            <a:endParaRPr lang="es-CO" sz="1400" dirty="0">
              <a:solidFill>
                <a:srgbClr val="C8D6E5"/>
              </a:solidFill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46C78CC-7409-4D60-B652-EF08A49652B5}"/>
              </a:ext>
            </a:extLst>
          </p:cNvPr>
          <p:cNvSpPr/>
          <p:nvPr/>
        </p:nvSpPr>
        <p:spPr>
          <a:xfrm>
            <a:off x="3429000" y="3087688"/>
            <a:ext cx="2540000" cy="22860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00D4A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1B2838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BE242F46-3300-4DCB-9C76-1494C9206405}"/>
              </a:ext>
            </a:extLst>
          </p:cNvPr>
          <p:cNvSpPr/>
          <p:nvPr/>
        </p:nvSpPr>
        <p:spPr>
          <a:xfrm>
            <a:off x="4381500" y="3278188"/>
            <a:ext cx="635000" cy="635000"/>
          </a:xfrm>
          <a:prstGeom prst="ellipse">
            <a:avLst/>
          </a:prstGeom>
          <a:solidFill>
            <a:srgbClr val="00D4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sz="22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D605713-9721-43B8-8492-A9EF7C723942}"/>
              </a:ext>
            </a:extLst>
          </p:cNvPr>
          <p:cNvSpPr txBox="1"/>
          <p:nvPr/>
        </p:nvSpPr>
        <p:spPr>
          <a:xfrm>
            <a:off x="3556000" y="4040188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600" b="1">
                <a:solidFill>
                  <a:srgbClr val="00D4AA"/>
                </a:solidFill>
              </a:rPr>
              <a:t>Razonamiento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44DB440-6F41-4591-914A-9325010F34C6}"/>
              </a:ext>
            </a:extLst>
          </p:cNvPr>
          <p:cNvSpPr txBox="1"/>
          <p:nvPr/>
        </p:nvSpPr>
        <p:spPr>
          <a:xfrm>
            <a:off x="3556000" y="4484688"/>
            <a:ext cx="2286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es-ES" sz="1400">
                <a:solidFill>
                  <a:srgbClr val="C8D6E5"/>
                </a:solidFill>
              </a:rPr>
              <a:t>Analiza y decide
el mejor curso</a:t>
            </a:r>
            <a:endParaRPr lang="es-CO" sz="1400">
              <a:solidFill>
                <a:srgbClr val="C8D6E5"/>
              </a:solidFill>
            </a:endParaRP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34FD4322-1B96-415D-80F1-36283F919325}"/>
              </a:ext>
            </a:extLst>
          </p:cNvPr>
          <p:cNvSpPr/>
          <p:nvPr/>
        </p:nvSpPr>
        <p:spPr>
          <a:xfrm>
            <a:off x="6223000" y="3087688"/>
            <a:ext cx="2540000" cy="22860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00D4A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1B2838"/>
              </a:solidFill>
            </a:endParaRP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02635855-692A-4347-BEDD-6257A367F7CB}"/>
              </a:ext>
            </a:extLst>
          </p:cNvPr>
          <p:cNvSpPr/>
          <p:nvPr/>
        </p:nvSpPr>
        <p:spPr>
          <a:xfrm>
            <a:off x="7175500" y="3278188"/>
            <a:ext cx="635000" cy="635000"/>
          </a:xfrm>
          <a:prstGeom prst="ellipse">
            <a:avLst/>
          </a:prstGeom>
          <a:solidFill>
            <a:srgbClr val="00D4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sz="2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71E708F-3ECC-4419-BF20-BD7E889A454C}"/>
              </a:ext>
            </a:extLst>
          </p:cNvPr>
          <p:cNvSpPr txBox="1"/>
          <p:nvPr/>
        </p:nvSpPr>
        <p:spPr>
          <a:xfrm>
            <a:off x="6350000" y="4040188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600" b="1">
                <a:solidFill>
                  <a:srgbClr val="00D4AA"/>
                </a:solidFill>
              </a:rPr>
              <a:t>Acción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A4DC96B-8AA8-4F76-B239-A296C5804718}"/>
              </a:ext>
            </a:extLst>
          </p:cNvPr>
          <p:cNvSpPr txBox="1"/>
          <p:nvPr/>
        </p:nvSpPr>
        <p:spPr>
          <a:xfrm>
            <a:off x="6350000" y="4484688"/>
            <a:ext cx="2286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es-ES" sz="1400">
                <a:solidFill>
                  <a:srgbClr val="C8D6E5"/>
                </a:solidFill>
              </a:rPr>
              <a:t>Ejecuta herramientas
y genera outputs</a:t>
            </a:r>
            <a:endParaRPr lang="es-CO" sz="1400">
              <a:solidFill>
                <a:srgbClr val="C8D6E5"/>
              </a:solidFill>
            </a:endParaRP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EBB7F3F4-0B29-4B51-9A10-6A4A0BD8E5C0}"/>
              </a:ext>
            </a:extLst>
          </p:cNvPr>
          <p:cNvSpPr/>
          <p:nvPr/>
        </p:nvSpPr>
        <p:spPr>
          <a:xfrm>
            <a:off x="9017000" y="3087688"/>
            <a:ext cx="2540000" cy="22860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00D4A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1B2838"/>
              </a:solidFill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E69433FD-E207-415A-94BA-D0BE9B203483}"/>
              </a:ext>
            </a:extLst>
          </p:cNvPr>
          <p:cNvSpPr/>
          <p:nvPr/>
        </p:nvSpPr>
        <p:spPr>
          <a:xfrm>
            <a:off x="9969500" y="3278188"/>
            <a:ext cx="635000" cy="635000"/>
          </a:xfrm>
          <a:prstGeom prst="ellipse">
            <a:avLst/>
          </a:prstGeom>
          <a:solidFill>
            <a:srgbClr val="00D4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sz="2200" b="1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4243E06-1F97-4714-A349-5A507B34EA0C}"/>
              </a:ext>
            </a:extLst>
          </p:cNvPr>
          <p:cNvSpPr txBox="1"/>
          <p:nvPr/>
        </p:nvSpPr>
        <p:spPr>
          <a:xfrm>
            <a:off x="9144000" y="4040188"/>
            <a:ext cx="228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600" b="1">
                <a:solidFill>
                  <a:srgbClr val="00D4AA"/>
                </a:solidFill>
              </a:rPr>
              <a:t>Aprendizaje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C8720D7-9BA7-48C5-ACD6-459E820AB566}"/>
              </a:ext>
            </a:extLst>
          </p:cNvPr>
          <p:cNvSpPr txBox="1"/>
          <p:nvPr/>
        </p:nvSpPr>
        <p:spPr>
          <a:xfrm>
            <a:off x="9144000" y="4484688"/>
            <a:ext cx="2286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es-ES" sz="1400">
                <a:solidFill>
                  <a:srgbClr val="C8D6E5"/>
                </a:solidFill>
              </a:rPr>
              <a:t>Mejora con memoria
y retroalimentación</a:t>
            </a:r>
            <a:endParaRPr lang="es-CO" sz="1400">
              <a:solidFill>
                <a:srgbClr val="C8D6E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632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97B70-1743-1D18-1C80-C02D2AB7E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Anatomía de un Agente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CE4BE958-469B-411D-9CE9-099E8CFDD5EE}"/>
              </a:ext>
            </a:extLst>
          </p:cNvPr>
          <p:cNvSpPr/>
          <p:nvPr/>
        </p:nvSpPr>
        <p:spPr>
          <a:xfrm>
            <a:off x="4953000" y="2667000"/>
            <a:ext cx="1651000" cy="1651000"/>
          </a:xfrm>
          <a:prstGeom prst="ellipse">
            <a:avLst/>
          </a:prstGeom>
          <a:solidFill>
            <a:srgbClr val="00D4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s-CO" sz="2600" b="1" dirty="0">
                <a:solidFill>
                  <a:srgbClr val="0D1B2A"/>
                </a:solidFill>
              </a:rPr>
              <a:t>LLM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8F3EE5E-06FB-41EB-B9C0-B0D366061755}"/>
              </a:ext>
            </a:extLst>
          </p:cNvPr>
          <p:cNvSpPr txBox="1"/>
          <p:nvPr/>
        </p:nvSpPr>
        <p:spPr>
          <a:xfrm>
            <a:off x="4635500" y="4381500"/>
            <a:ext cx="2286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>
                <a:solidFill>
                  <a:srgbClr val="8EEEDD"/>
                </a:solidFill>
              </a:rPr>
              <a:t>Motor de Razonamiento</a:t>
            </a:r>
          </a:p>
        </p:txBody>
      </p:sp>
      <p:sp>
        <p:nvSpPr>
          <p:cNvPr id="34" name="Rectángulo: esquinas redondeadas 33">
            <a:extLst>
              <a:ext uri="{FF2B5EF4-FFF2-40B4-BE49-F238E27FC236}">
                <a16:creationId xmlns:a16="http://schemas.microsoft.com/office/drawing/2014/main" id="{D0646E4A-D9C0-4668-AF2F-00D81DF0C667}"/>
              </a:ext>
            </a:extLst>
          </p:cNvPr>
          <p:cNvSpPr/>
          <p:nvPr/>
        </p:nvSpPr>
        <p:spPr>
          <a:xfrm>
            <a:off x="457200" y="1714500"/>
            <a:ext cx="3937000" cy="12700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7B68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DF7EF2E-8E94-472B-86F6-E36E8B992645}"/>
              </a:ext>
            </a:extLst>
          </p:cNvPr>
          <p:cNvSpPr/>
          <p:nvPr/>
        </p:nvSpPr>
        <p:spPr>
          <a:xfrm>
            <a:off x="469900" y="1866900"/>
            <a:ext cx="63500" cy="965200"/>
          </a:xfrm>
          <a:prstGeom prst="rect">
            <a:avLst/>
          </a:prstGeom>
          <a:solidFill>
            <a:srgbClr val="7B68E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22B61132-BD4C-4B5E-ADA7-752EB3A11F1F}"/>
              </a:ext>
            </a:extLst>
          </p:cNvPr>
          <p:cNvSpPr/>
          <p:nvPr/>
        </p:nvSpPr>
        <p:spPr>
          <a:xfrm>
            <a:off x="596900" y="1841500"/>
            <a:ext cx="787400" cy="787400"/>
          </a:xfrm>
          <a:prstGeom prst="ellipse">
            <a:avLst/>
          </a:prstGeom>
          <a:solidFill>
            <a:srgbClr val="2A2454"/>
          </a:solidFill>
          <a:ln w="19050" cap="flat" cmpd="sng" algn="ctr">
            <a:solidFill>
              <a:srgbClr val="7B68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8431E6E5-FE9E-44C2-A080-E8FB5DBF471F}"/>
              </a:ext>
            </a:extLst>
          </p:cNvPr>
          <p:cNvSpPr txBox="1"/>
          <p:nvPr/>
        </p:nvSpPr>
        <p:spPr>
          <a:xfrm>
            <a:off x="1600200" y="1905000"/>
            <a:ext cx="26035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b="1">
                <a:solidFill>
                  <a:srgbClr val="7B68EE"/>
                </a:solidFill>
              </a:rPr>
              <a:t>Herramientas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46067910-F27B-4033-9F83-8009CB088C2F}"/>
              </a:ext>
            </a:extLst>
          </p:cNvPr>
          <p:cNvSpPr txBox="1"/>
          <p:nvPr/>
        </p:nvSpPr>
        <p:spPr>
          <a:xfrm>
            <a:off x="1600200" y="2349500"/>
            <a:ext cx="2667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es-ES" sz="1400">
                <a:solidFill>
                  <a:srgbClr val="C8D6E5"/>
                </a:solidFill>
              </a:rPr>
              <a:t>APIs, búsqueda web, bases de datos, ejecución de código</a:t>
            </a:r>
            <a:endParaRPr lang="es-CO" sz="1400">
              <a:solidFill>
                <a:srgbClr val="C8D6E5"/>
              </a:solidFill>
            </a:endParaRPr>
          </a:p>
        </p:txBody>
      </p:sp>
      <p:sp>
        <p:nvSpPr>
          <p:cNvPr id="39" name="Rectángulo: esquinas redondeadas 38">
            <a:extLst>
              <a:ext uri="{FF2B5EF4-FFF2-40B4-BE49-F238E27FC236}">
                <a16:creationId xmlns:a16="http://schemas.microsoft.com/office/drawing/2014/main" id="{F9E3A5DC-03AC-4886-8565-B3802D3A717C}"/>
              </a:ext>
            </a:extLst>
          </p:cNvPr>
          <p:cNvSpPr/>
          <p:nvPr/>
        </p:nvSpPr>
        <p:spPr>
          <a:xfrm>
            <a:off x="7620000" y="1714500"/>
            <a:ext cx="3937000" cy="12700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4ECD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E04015A0-A24F-4737-BA28-A239A39F03F5}"/>
              </a:ext>
            </a:extLst>
          </p:cNvPr>
          <p:cNvSpPr/>
          <p:nvPr/>
        </p:nvSpPr>
        <p:spPr>
          <a:xfrm>
            <a:off x="7632700" y="1866900"/>
            <a:ext cx="63500" cy="965200"/>
          </a:xfrm>
          <a:prstGeom prst="rect">
            <a:avLst/>
          </a:prstGeom>
          <a:solidFill>
            <a:srgbClr val="4ECDC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C1EDC6A6-A2DE-4D27-8169-43D810EABA7F}"/>
              </a:ext>
            </a:extLst>
          </p:cNvPr>
          <p:cNvSpPr/>
          <p:nvPr/>
        </p:nvSpPr>
        <p:spPr>
          <a:xfrm>
            <a:off x="7747000" y="1816100"/>
            <a:ext cx="787400" cy="787400"/>
          </a:xfrm>
          <a:prstGeom prst="ellipse">
            <a:avLst/>
          </a:prstGeom>
          <a:solidFill>
            <a:srgbClr val="1A3D3A"/>
          </a:solidFill>
          <a:ln w="19050" cap="flat" cmpd="sng" algn="ctr">
            <a:solidFill>
              <a:srgbClr val="4ECD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0B568A1D-7722-4B96-AED9-8A90B381E04B}"/>
              </a:ext>
            </a:extLst>
          </p:cNvPr>
          <p:cNvSpPr txBox="1"/>
          <p:nvPr/>
        </p:nvSpPr>
        <p:spPr>
          <a:xfrm>
            <a:off x="8763000" y="1905000"/>
            <a:ext cx="26035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b="1">
                <a:solidFill>
                  <a:srgbClr val="4ECDC4"/>
                </a:solidFill>
              </a:rPr>
              <a:t>Memoria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545FF069-6351-4F1B-B503-E56ED962320B}"/>
              </a:ext>
            </a:extLst>
          </p:cNvPr>
          <p:cNvSpPr txBox="1"/>
          <p:nvPr/>
        </p:nvSpPr>
        <p:spPr>
          <a:xfrm>
            <a:off x="8763000" y="2349500"/>
            <a:ext cx="2667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es-CO" sz="1400">
                <a:solidFill>
                  <a:srgbClr val="C8D6E5"/>
                </a:solidFill>
              </a:rPr>
              <a:t>Contexto conversacional, knowledge base, RAG</a:t>
            </a:r>
          </a:p>
        </p:txBody>
      </p:sp>
      <p:sp>
        <p:nvSpPr>
          <p:cNvPr id="44" name="Rectángulo: esquinas redondeadas 43">
            <a:extLst>
              <a:ext uri="{FF2B5EF4-FFF2-40B4-BE49-F238E27FC236}">
                <a16:creationId xmlns:a16="http://schemas.microsoft.com/office/drawing/2014/main" id="{CA9D7834-8C50-4C8C-A7D6-BD7AC8EFD27B}"/>
              </a:ext>
            </a:extLst>
          </p:cNvPr>
          <p:cNvSpPr/>
          <p:nvPr/>
        </p:nvSpPr>
        <p:spPr>
          <a:xfrm>
            <a:off x="457200" y="4826000"/>
            <a:ext cx="3937000" cy="12700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FFD9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C70B839D-9CBA-4217-9E2E-FC16E0E6E8D8}"/>
              </a:ext>
            </a:extLst>
          </p:cNvPr>
          <p:cNvSpPr/>
          <p:nvPr/>
        </p:nvSpPr>
        <p:spPr>
          <a:xfrm>
            <a:off x="469900" y="4978400"/>
            <a:ext cx="63500" cy="965200"/>
          </a:xfrm>
          <a:prstGeom prst="rect">
            <a:avLst/>
          </a:prstGeom>
          <a:solidFill>
            <a:srgbClr val="FFD9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95FD9530-9350-47F9-82A3-8CC2DD070162}"/>
              </a:ext>
            </a:extLst>
          </p:cNvPr>
          <p:cNvSpPr/>
          <p:nvPr/>
        </p:nvSpPr>
        <p:spPr>
          <a:xfrm>
            <a:off x="660400" y="4978400"/>
            <a:ext cx="787400" cy="787400"/>
          </a:xfrm>
          <a:prstGeom prst="ellipse">
            <a:avLst/>
          </a:prstGeom>
          <a:solidFill>
            <a:srgbClr val="3D3518"/>
          </a:solidFill>
          <a:ln w="19050" cap="flat" cmpd="sng" algn="ctr">
            <a:solidFill>
              <a:srgbClr val="FFD9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2A3AD7F8-B6BC-4694-8AC9-7BCAE13FD640}"/>
              </a:ext>
            </a:extLst>
          </p:cNvPr>
          <p:cNvSpPr txBox="1"/>
          <p:nvPr/>
        </p:nvSpPr>
        <p:spPr>
          <a:xfrm>
            <a:off x="1600200" y="5016500"/>
            <a:ext cx="26035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b="1">
                <a:solidFill>
                  <a:srgbClr val="FFD93D"/>
                </a:solidFill>
              </a:rPr>
              <a:t>Orquestación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93C53C65-EB0E-4207-9131-B4E6C5F88846}"/>
              </a:ext>
            </a:extLst>
          </p:cNvPr>
          <p:cNvSpPr txBox="1"/>
          <p:nvPr/>
        </p:nvSpPr>
        <p:spPr>
          <a:xfrm>
            <a:off x="1600200" y="5461000"/>
            <a:ext cx="2667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es-ES" sz="1400">
                <a:solidFill>
                  <a:srgbClr val="C8D6E5"/>
                </a:solidFill>
              </a:rPr>
              <a:t>Flujo de decisiones, LangGraph StateGraph</a:t>
            </a:r>
            <a:endParaRPr lang="es-CO" sz="1400">
              <a:solidFill>
                <a:srgbClr val="C8D6E5"/>
              </a:solidFill>
            </a:endParaRPr>
          </a:p>
        </p:txBody>
      </p:sp>
      <p:sp>
        <p:nvSpPr>
          <p:cNvPr id="49" name="Rectángulo: esquinas redondeadas 48">
            <a:extLst>
              <a:ext uri="{FF2B5EF4-FFF2-40B4-BE49-F238E27FC236}">
                <a16:creationId xmlns:a16="http://schemas.microsoft.com/office/drawing/2014/main" id="{44CC4D1B-837D-40CF-8897-732AC762C561}"/>
              </a:ext>
            </a:extLst>
          </p:cNvPr>
          <p:cNvSpPr/>
          <p:nvPr/>
        </p:nvSpPr>
        <p:spPr>
          <a:xfrm>
            <a:off x="7620000" y="4826000"/>
            <a:ext cx="3937000" cy="12700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FF6B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F485D6F4-5694-4C57-888C-A6FEC6E26EC5}"/>
              </a:ext>
            </a:extLst>
          </p:cNvPr>
          <p:cNvSpPr/>
          <p:nvPr/>
        </p:nvSpPr>
        <p:spPr>
          <a:xfrm>
            <a:off x="7632700" y="4978400"/>
            <a:ext cx="63500" cy="965200"/>
          </a:xfrm>
          <a:prstGeom prst="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5FE57CB5-9141-4AC5-830E-A6F20DAC7FD9}"/>
              </a:ext>
            </a:extLst>
          </p:cNvPr>
          <p:cNvSpPr/>
          <p:nvPr/>
        </p:nvSpPr>
        <p:spPr>
          <a:xfrm>
            <a:off x="7747000" y="4927600"/>
            <a:ext cx="787400" cy="787400"/>
          </a:xfrm>
          <a:prstGeom prst="ellipse">
            <a:avLst/>
          </a:prstGeom>
          <a:solidFill>
            <a:srgbClr val="3D1E1E"/>
          </a:solidFill>
          <a:ln w="19050" cap="flat" cmpd="sng" algn="ctr">
            <a:solidFill>
              <a:srgbClr val="FF6B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CDF3001F-691D-4A44-A60E-9B8C6C48B2C5}"/>
              </a:ext>
            </a:extLst>
          </p:cNvPr>
          <p:cNvSpPr txBox="1"/>
          <p:nvPr/>
        </p:nvSpPr>
        <p:spPr>
          <a:xfrm>
            <a:off x="8763000" y="5016500"/>
            <a:ext cx="26035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b="1">
                <a:solidFill>
                  <a:srgbClr val="FF6B6B"/>
                </a:solidFill>
              </a:rPr>
              <a:t>Prompts</a:t>
            </a: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86909973-DBF4-428F-A460-6236ECE97D79}"/>
              </a:ext>
            </a:extLst>
          </p:cNvPr>
          <p:cNvSpPr txBox="1"/>
          <p:nvPr/>
        </p:nvSpPr>
        <p:spPr>
          <a:xfrm>
            <a:off x="8763000" y="5372100"/>
            <a:ext cx="26670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es-ES" sz="1400" dirty="0" err="1">
                <a:solidFill>
                  <a:srgbClr val="C8D6E5"/>
                </a:solidFill>
              </a:rPr>
              <a:t>System</a:t>
            </a:r>
            <a:r>
              <a:rPr lang="es-ES" sz="1400" dirty="0">
                <a:solidFill>
                  <a:srgbClr val="C8D6E5"/>
                </a:solidFill>
              </a:rPr>
              <a:t> </a:t>
            </a:r>
            <a:r>
              <a:rPr lang="es-ES" sz="1400" dirty="0" err="1">
                <a:solidFill>
                  <a:srgbClr val="C8D6E5"/>
                </a:solidFill>
              </a:rPr>
              <a:t>prompts</a:t>
            </a:r>
            <a:r>
              <a:rPr lang="es-ES" sz="1400" dirty="0">
                <a:solidFill>
                  <a:srgbClr val="C8D6E5"/>
                </a:solidFill>
              </a:rPr>
              <a:t>, instrucciones, definición de roles</a:t>
            </a:r>
            <a:endParaRPr lang="es-CO" sz="1400" dirty="0">
              <a:solidFill>
                <a:srgbClr val="C8D6E5"/>
              </a:solidFill>
            </a:endParaRPr>
          </a:p>
        </p:txBody>
      </p:sp>
      <p:pic>
        <p:nvPicPr>
          <p:cNvPr id="54" name="Graphic 54" descr="Herramienta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7700" y="1943100"/>
            <a:ext cx="406400" cy="406400"/>
          </a:xfrm>
          <a:prstGeom prst="rect">
            <a:avLst/>
          </a:prstGeom>
        </p:spPr>
      </p:pic>
      <p:pic>
        <p:nvPicPr>
          <p:cNvPr id="55" name="Graphic 55" descr="Memori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10500" y="1943100"/>
            <a:ext cx="406400" cy="406400"/>
          </a:xfrm>
          <a:prstGeom prst="rect">
            <a:avLst/>
          </a:prstGeom>
        </p:spPr>
      </p:pic>
      <p:pic>
        <p:nvPicPr>
          <p:cNvPr id="56" name="Graphic 56" descr="Orquestació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" y="5054600"/>
            <a:ext cx="406400" cy="406400"/>
          </a:xfrm>
          <a:prstGeom prst="rect">
            <a:avLst/>
          </a:prstGeom>
        </p:spPr>
      </p:pic>
      <p:pic>
        <p:nvPicPr>
          <p:cNvPr id="57" name="Graphic 57" descr="Prompt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10500" y="5054600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976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B29CB8-F703-D419-74F2-FFCA3B07C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Sistemas Multiagentes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6A5633D9-723A-4104-BB72-FE1A8E365112}"/>
              </a:ext>
            </a:extLst>
          </p:cNvPr>
          <p:cNvSpPr/>
          <p:nvPr/>
        </p:nvSpPr>
        <p:spPr>
          <a:xfrm>
            <a:off x="457200" y="1778000"/>
            <a:ext cx="5334000" cy="11430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00D4A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877A78D-8146-4954-80ED-8DAE6A3A791D}"/>
              </a:ext>
            </a:extLst>
          </p:cNvPr>
          <p:cNvSpPr txBox="1"/>
          <p:nvPr/>
        </p:nvSpPr>
        <p:spPr>
          <a:xfrm>
            <a:off x="635000" y="1905000"/>
            <a:ext cx="4953000" cy="9233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es-CO" dirty="0">
                <a:solidFill>
                  <a:srgbClr val="FFFFFF"/>
                </a:solidFill>
              </a:rPr>
              <a:t>Múltiples agentes especializados que colaboran para resolver problemas complejos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0E1A921-CEE7-42A9-99BD-CF6E46DCE6FD}"/>
              </a:ext>
            </a:extLst>
          </p:cNvPr>
          <p:cNvSpPr txBox="1"/>
          <p:nvPr/>
        </p:nvSpPr>
        <p:spPr>
          <a:xfrm>
            <a:off x="457200" y="3111500"/>
            <a:ext cx="254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600" b="1">
                <a:solidFill>
                  <a:srgbClr val="00D4AA"/>
                </a:solidFill>
              </a:rPr>
              <a:t>Cada agente tiene: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3CE3CCAD-14D1-4DD2-9D44-A50D71583388}"/>
              </a:ext>
            </a:extLst>
          </p:cNvPr>
          <p:cNvSpPr/>
          <p:nvPr/>
        </p:nvSpPr>
        <p:spPr>
          <a:xfrm>
            <a:off x="635000" y="3581400"/>
            <a:ext cx="228600" cy="228600"/>
          </a:xfrm>
          <a:prstGeom prst="ellipse">
            <a:avLst/>
          </a:prstGeom>
          <a:solidFill>
            <a:srgbClr val="7B68E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8A7A746-B4C3-43E3-9041-375C28F87698}"/>
              </a:ext>
            </a:extLst>
          </p:cNvPr>
          <p:cNvSpPr txBox="1"/>
          <p:nvPr/>
        </p:nvSpPr>
        <p:spPr>
          <a:xfrm>
            <a:off x="939800" y="3556000"/>
            <a:ext cx="4445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2000" dirty="0">
                <a:solidFill>
                  <a:srgbClr val="C8D6E5"/>
                </a:solidFill>
              </a:rPr>
              <a:t>Un rol específico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91652265-F471-4202-B809-D988CDDD4222}"/>
              </a:ext>
            </a:extLst>
          </p:cNvPr>
          <p:cNvSpPr/>
          <p:nvPr/>
        </p:nvSpPr>
        <p:spPr>
          <a:xfrm>
            <a:off x="635000" y="4064000"/>
            <a:ext cx="228600" cy="228600"/>
          </a:xfrm>
          <a:prstGeom prst="ellipse">
            <a:avLst/>
          </a:prstGeom>
          <a:solidFill>
            <a:srgbClr val="4ECDC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C335C9B-8381-42AD-BD79-0A36F49F295F}"/>
              </a:ext>
            </a:extLst>
          </p:cNvPr>
          <p:cNvSpPr txBox="1"/>
          <p:nvPr/>
        </p:nvSpPr>
        <p:spPr>
          <a:xfrm>
            <a:off x="939800" y="4038600"/>
            <a:ext cx="4445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2000">
                <a:solidFill>
                  <a:srgbClr val="C8D6E5"/>
                </a:solidFill>
              </a:rPr>
              <a:t>Herramientas propias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7C1C0526-66CF-4390-A911-58E14CDE7361}"/>
              </a:ext>
            </a:extLst>
          </p:cNvPr>
          <p:cNvSpPr/>
          <p:nvPr/>
        </p:nvSpPr>
        <p:spPr>
          <a:xfrm>
            <a:off x="635000" y="4546600"/>
            <a:ext cx="228600" cy="228600"/>
          </a:xfrm>
          <a:prstGeom prst="ellipse">
            <a:avLst/>
          </a:prstGeom>
          <a:solidFill>
            <a:srgbClr val="FFD9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76EB7FD-E66E-4049-956E-B8DD3BA3D128}"/>
              </a:ext>
            </a:extLst>
          </p:cNvPr>
          <p:cNvSpPr txBox="1"/>
          <p:nvPr/>
        </p:nvSpPr>
        <p:spPr>
          <a:xfrm>
            <a:off x="939800" y="4521200"/>
            <a:ext cx="4445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2000">
                <a:solidFill>
                  <a:srgbClr val="C8D6E5"/>
                </a:solidFill>
              </a:rPr>
              <a:t>Capacidad de comunicación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0B6A69D5-5089-4DDD-A21D-59461A612245}"/>
              </a:ext>
            </a:extLst>
          </p:cNvPr>
          <p:cNvSpPr/>
          <p:nvPr/>
        </p:nvSpPr>
        <p:spPr>
          <a:xfrm>
            <a:off x="635000" y="5029200"/>
            <a:ext cx="228600" cy="228600"/>
          </a:xfrm>
          <a:prstGeom prst="ellipse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F239614-C2D5-49EE-AC61-1438AB3FF049}"/>
              </a:ext>
            </a:extLst>
          </p:cNvPr>
          <p:cNvSpPr txBox="1"/>
          <p:nvPr/>
        </p:nvSpPr>
        <p:spPr>
          <a:xfrm>
            <a:off x="939800" y="5003800"/>
            <a:ext cx="4445000" cy="40011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2000">
                <a:solidFill>
                  <a:srgbClr val="C8D6E5"/>
                </a:solidFill>
              </a:rPr>
              <a:t>Autonomía de decisión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BF73F59-72D9-49C2-8B74-43AEFDA78A8C}"/>
              </a:ext>
            </a:extLst>
          </p:cNvPr>
          <p:cNvSpPr txBox="1"/>
          <p:nvPr/>
        </p:nvSpPr>
        <p:spPr>
          <a:xfrm>
            <a:off x="6350000" y="1778000"/>
            <a:ext cx="533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700" b="1">
                <a:solidFill>
                  <a:srgbClr val="00D4AA"/>
                </a:solidFill>
              </a:rPr>
              <a:t>Ventajas vs. Agente Único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C13E8CC1-7882-4AB5-83C4-214DE7A8D02D}"/>
              </a:ext>
            </a:extLst>
          </p:cNvPr>
          <p:cNvSpPr/>
          <p:nvPr/>
        </p:nvSpPr>
        <p:spPr>
          <a:xfrm>
            <a:off x="6350000" y="2286000"/>
            <a:ext cx="2476500" cy="12065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7B68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47A6A7B-DB58-4034-82EE-A40B8FB412C9}"/>
              </a:ext>
            </a:extLst>
          </p:cNvPr>
          <p:cNvSpPr/>
          <p:nvPr/>
        </p:nvSpPr>
        <p:spPr>
          <a:xfrm>
            <a:off x="6540500" y="2298700"/>
            <a:ext cx="508000" cy="50800"/>
          </a:xfrm>
          <a:prstGeom prst="rect">
            <a:avLst/>
          </a:prstGeom>
          <a:solidFill>
            <a:srgbClr val="7B68E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B612080-5C07-4545-BC50-179C50A06647}"/>
              </a:ext>
            </a:extLst>
          </p:cNvPr>
          <p:cNvSpPr txBox="1"/>
          <p:nvPr/>
        </p:nvSpPr>
        <p:spPr>
          <a:xfrm>
            <a:off x="6502400" y="2514600"/>
            <a:ext cx="2171700" cy="863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CO" sz="1500" b="1">
                <a:solidFill>
                  <a:srgbClr val="FFFFFF"/>
                </a:solidFill>
              </a:rPr>
              <a:t>Especialización
por dominio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DD5533DC-6DA8-4456-BACB-ED1590004B27}"/>
              </a:ext>
            </a:extLst>
          </p:cNvPr>
          <p:cNvSpPr/>
          <p:nvPr/>
        </p:nvSpPr>
        <p:spPr>
          <a:xfrm>
            <a:off x="9029700" y="2286000"/>
            <a:ext cx="2476500" cy="12065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4ECD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6AC9AE9A-594B-4E8B-9F1D-7E18ADDFF4E7}"/>
              </a:ext>
            </a:extLst>
          </p:cNvPr>
          <p:cNvSpPr/>
          <p:nvPr/>
        </p:nvSpPr>
        <p:spPr>
          <a:xfrm>
            <a:off x="9220200" y="2298700"/>
            <a:ext cx="508000" cy="50800"/>
          </a:xfrm>
          <a:prstGeom prst="rect">
            <a:avLst/>
          </a:prstGeom>
          <a:solidFill>
            <a:srgbClr val="4ECDC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29EA0EE-3A51-492C-A450-7B3F821BDF40}"/>
              </a:ext>
            </a:extLst>
          </p:cNvPr>
          <p:cNvSpPr txBox="1"/>
          <p:nvPr/>
        </p:nvSpPr>
        <p:spPr>
          <a:xfrm>
            <a:off x="9182100" y="2514600"/>
            <a:ext cx="2171700" cy="863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CO" sz="1500" b="1">
                <a:solidFill>
                  <a:srgbClr val="FFFFFF"/>
                </a:solidFill>
              </a:rPr>
              <a:t>Escalabilidad
horizontal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5F7C8933-D7A3-421E-A003-6127929F9784}"/>
              </a:ext>
            </a:extLst>
          </p:cNvPr>
          <p:cNvSpPr/>
          <p:nvPr/>
        </p:nvSpPr>
        <p:spPr>
          <a:xfrm>
            <a:off x="6350000" y="3644900"/>
            <a:ext cx="2476500" cy="12065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FF6B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E97CD9FE-1432-434D-A242-70486F6CD309}"/>
              </a:ext>
            </a:extLst>
          </p:cNvPr>
          <p:cNvSpPr/>
          <p:nvPr/>
        </p:nvSpPr>
        <p:spPr>
          <a:xfrm>
            <a:off x="6540500" y="3657600"/>
            <a:ext cx="508000" cy="50800"/>
          </a:xfrm>
          <a:prstGeom prst="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6CAC6BC-8CBD-4910-9BAD-D426D1C0A39B}"/>
              </a:ext>
            </a:extLst>
          </p:cNvPr>
          <p:cNvSpPr txBox="1"/>
          <p:nvPr/>
        </p:nvSpPr>
        <p:spPr>
          <a:xfrm>
            <a:off x="6502400" y="3873500"/>
            <a:ext cx="2171700" cy="863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CO" sz="1500" b="1">
                <a:solidFill>
                  <a:srgbClr val="FFFFFF"/>
                </a:solidFill>
              </a:rPr>
              <a:t>Tolerancia
a fallos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2D7DD24B-6344-41D6-BE70-310473B9AC3C}"/>
              </a:ext>
            </a:extLst>
          </p:cNvPr>
          <p:cNvSpPr/>
          <p:nvPr/>
        </p:nvSpPr>
        <p:spPr>
          <a:xfrm>
            <a:off x="9029700" y="3644900"/>
            <a:ext cx="2476500" cy="12065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FFD9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991ADEC-F1A2-401F-922C-C2C575C0B1E5}"/>
              </a:ext>
            </a:extLst>
          </p:cNvPr>
          <p:cNvSpPr/>
          <p:nvPr/>
        </p:nvSpPr>
        <p:spPr>
          <a:xfrm>
            <a:off x="9220200" y="3657600"/>
            <a:ext cx="508000" cy="50800"/>
          </a:xfrm>
          <a:prstGeom prst="rect">
            <a:avLst/>
          </a:prstGeom>
          <a:solidFill>
            <a:srgbClr val="FFD9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976A7283-8A11-49A5-84BF-9CAE1ED7BAA9}"/>
              </a:ext>
            </a:extLst>
          </p:cNvPr>
          <p:cNvSpPr txBox="1"/>
          <p:nvPr/>
        </p:nvSpPr>
        <p:spPr>
          <a:xfrm>
            <a:off x="9182100" y="3873500"/>
            <a:ext cx="2171700" cy="863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CO" sz="1500" b="1">
                <a:solidFill>
                  <a:srgbClr val="FFFFFF"/>
                </a:solidFill>
              </a:rPr>
              <a:t>Calidad superior
en outputs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FE38A566-0B24-449F-A4DE-3179A2CEA447}"/>
              </a:ext>
            </a:extLst>
          </p:cNvPr>
          <p:cNvSpPr/>
          <p:nvPr/>
        </p:nvSpPr>
        <p:spPr>
          <a:xfrm>
            <a:off x="6350000" y="5003800"/>
            <a:ext cx="2476500" cy="12065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00D4A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BE828DFB-4261-4559-BCDB-B995E6880D4F}"/>
              </a:ext>
            </a:extLst>
          </p:cNvPr>
          <p:cNvSpPr/>
          <p:nvPr/>
        </p:nvSpPr>
        <p:spPr>
          <a:xfrm>
            <a:off x="6540500" y="5016500"/>
            <a:ext cx="508000" cy="50800"/>
          </a:xfrm>
          <a:prstGeom prst="rect">
            <a:avLst/>
          </a:prstGeom>
          <a:solidFill>
            <a:srgbClr val="00D4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628B26BE-F9B1-4CA4-9691-16B18CA2D6A6}"/>
              </a:ext>
            </a:extLst>
          </p:cNvPr>
          <p:cNvSpPr txBox="1"/>
          <p:nvPr/>
        </p:nvSpPr>
        <p:spPr>
          <a:xfrm>
            <a:off x="6502400" y="5232400"/>
            <a:ext cx="2171700" cy="863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CO" sz="1500" b="1">
                <a:solidFill>
                  <a:srgbClr val="FFFFFF"/>
                </a:solidFill>
              </a:rPr>
              <a:t>Flujos
paralelos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D2F2E9D6-27B9-4465-920C-0A99CFD2E040}"/>
              </a:ext>
            </a:extLst>
          </p:cNvPr>
          <p:cNvSpPr/>
          <p:nvPr/>
        </p:nvSpPr>
        <p:spPr>
          <a:xfrm>
            <a:off x="9029700" y="5003800"/>
            <a:ext cx="2476500" cy="12065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6C5CE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8134B69-BE73-4C7C-AE41-D2A3EE807DC5}"/>
              </a:ext>
            </a:extLst>
          </p:cNvPr>
          <p:cNvSpPr/>
          <p:nvPr/>
        </p:nvSpPr>
        <p:spPr>
          <a:xfrm>
            <a:off x="9220200" y="5016500"/>
            <a:ext cx="508000" cy="50800"/>
          </a:xfrm>
          <a:prstGeom prst="rect">
            <a:avLst/>
          </a:prstGeom>
          <a:solidFill>
            <a:srgbClr val="6C5CE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D915377C-E82C-4852-9484-EBA723B193EA}"/>
              </a:ext>
            </a:extLst>
          </p:cNvPr>
          <p:cNvSpPr txBox="1"/>
          <p:nvPr/>
        </p:nvSpPr>
        <p:spPr>
          <a:xfrm>
            <a:off x="9182100" y="5232400"/>
            <a:ext cx="2171700" cy="863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CO" sz="1500" b="1">
                <a:solidFill>
                  <a:srgbClr val="FFFFFF"/>
                </a:solidFill>
              </a:rPr>
              <a:t>Mantenimiento
modular</a:t>
            </a: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932D424B-B07A-42AB-8CD0-03794E50C02A}"/>
              </a:ext>
            </a:extLst>
          </p:cNvPr>
          <p:cNvCxnSpPr/>
          <p:nvPr/>
        </p:nvCxnSpPr>
        <p:spPr>
          <a:xfrm>
            <a:off x="6045200" y="1905000"/>
            <a:ext cx="0" cy="4191000"/>
          </a:xfrm>
          <a:prstGeom prst="straightConnector1">
            <a:avLst/>
          </a:prstGeom>
          <a:ln w="19050" cap="flat" cmpd="sng" algn="ctr">
            <a:solidFill>
              <a:srgbClr val="1E3A5F"/>
            </a:solidFill>
            <a:prstDash val="dash"/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Graphic 36" descr="Especializació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13600" y="3124200"/>
            <a:ext cx="279400" cy="279400"/>
          </a:xfrm>
          <a:prstGeom prst="rect">
            <a:avLst/>
          </a:prstGeom>
        </p:spPr>
      </p:pic>
      <p:pic>
        <p:nvPicPr>
          <p:cNvPr id="37" name="Graphic 37" descr="Escalabilida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93300" y="3124200"/>
            <a:ext cx="279400" cy="279400"/>
          </a:xfrm>
          <a:prstGeom prst="rect">
            <a:avLst/>
          </a:prstGeom>
        </p:spPr>
      </p:pic>
      <p:pic>
        <p:nvPicPr>
          <p:cNvPr id="38" name="Graphic 38" descr="Tolerancia a fallo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13600" y="4483100"/>
            <a:ext cx="279400" cy="279400"/>
          </a:xfrm>
          <a:prstGeom prst="rect">
            <a:avLst/>
          </a:prstGeom>
        </p:spPr>
      </p:pic>
      <p:pic>
        <p:nvPicPr>
          <p:cNvPr id="39" name="Graphic 39" descr="Calidad superio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93300" y="4483100"/>
            <a:ext cx="279400" cy="279400"/>
          </a:xfrm>
          <a:prstGeom prst="rect">
            <a:avLst/>
          </a:prstGeom>
        </p:spPr>
      </p:pic>
      <p:pic>
        <p:nvPicPr>
          <p:cNvPr id="40" name="Graphic 40" descr="Mantenimiento modula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93300" y="5842000"/>
            <a:ext cx="279400" cy="279400"/>
          </a:xfrm>
          <a:prstGeom prst="rect">
            <a:avLst/>
          </a:prstGeom>
        </p:spPr>
      </p:pic>
      <p:pic>
        <p:nvPicPr>
          <p:cNvPr id="41" name="Graphic 41" descr="Flujos paralelo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13600" y="5842000"/>
            <a:ext cx="2794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568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94BE0-D58F-43EB-0DD5-783C97157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Patrones de Arquitectura Multiagente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EAB1B661-7B6E-41FF-BA28-6DBD8506D461}"/>
              </a:ext>
            </a:extLst>
          </p:cNvPr>
          <p:cNvSpPr/>
          <p:nvPr/>
        </p:nvSpPr>
        <p:spPr>
          <a:xfrm>
            <a:off x="635000" y="1944688"/>
            <a:ext cx="3429000" cy="3810000"/>
          </a:xfrm>
          <a:prstGeom prst="roundRect">
            <a:avLst/>
          </a:prstGeom>
          <a:solidFill>
            <a:srgbClr val="1B2838"/>
          </a:solidFill>
          <a:ln w="25400" cap="flat" cmpd="sng" algn="ctr">
            <a:solidFill>
              <a:srgbClr val="00D4A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1B2838"/>
              </a:solidFill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017E647D-EA22-4817-9BA2-E721D505E522}"/>
              </a:ext>
            </a:extLst>
          </p:cNvPr>
          <p:cNvSpPr/>
          <p:nvPr/>
        </p:nvSpPr>
        <p:spPr>
          <a:xfrm>
            <a:off x="2032000" y="2198688"/>
            <a:ext cx="635000" cy="635000"/>
          </a:xfrm>
          <a:prstGeom prst="ellipse">
            <a:avLst/>
          </a:prstGeom>
          <a:solidFill>
            <a:srgbClr val="00D4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sz="22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22612E3-DF3D-4025-ADE3-21472F9EA2C3}"/>
              </a:ext>
            </a:extLst>
          </p:cNvPr>
          <p:cNvSpPr txBox="1"/>
          <p:nvPr/>
        </p:nvSpPr>
        <p:spPr>
          <a:xfrm>
            <a:off x="825500" y="3024188"/>
            <a:ext cx="304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2000" b="1" dirty="0">
                <a:solidFill>
                  <a:srgbClr val="00D4AA"/>
                </a:solidFill>
              </a:rPr>
              <a:t>Supervisor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7CF5637-9CE3-473F-B781-DC3629FFEBD7}"/>
              </a:ext>
            </a:extLst>
          </p:cNvPr>
          <p:cNvSpPr txBox="1"/>
          <p:nvPr/>
        </p:nvSpPr>
        <p:spPr>
          <a:xfrm>
            <a:off x="825500" y="3595688"/>
            <a:ext cx="3048000" cy="9233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es-ES" dirty="0">
                <a:solidFill>
                  <a:srgbClr val="C8D6E5"/>
                </a:solidFill>
              </a:rPr>
              <a:t>Un agente central coordina y delega tareas a agentes especializados</a:t>
            </a:r>
            <a:endParaRPr lang="es-CO" dirty="0">
              <a:solidFill>
                <a:srgbClr val="C8D6E5"/>
              </a:solidFill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9CB33C15-6B10-4B9B-8F0E-2E76806E13AE}"/>
              </a:ext>
            </a:extLst>
          </p:cNvPr>
          <p:cNvSpPr/>
          <p:nvPr/>
        </p:nvSpPr>
        <p:spPr>
          <a:xfrm>
            <a:off x="1016000" y="4865688"/>
            <a:ext cx="2667000" cy="508000"/>
          </a:xfrm>
          <a:prstGeom prst="roundRect">
            <a:avLst/>
          </a:prstGeom>
          <a:solidFill>
            <a:srgbClr val="00D4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s-CO" sz="1400" b="1">
                <a:solidFill>
                  <a:srgbClr val="1B2838"/>
                </a:solidFill>
              </a:rPr>
              <a:t>Usado en este proyecto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65C055A-5A96-4B1E-AE05-6C367105CB4C}"/>
              </a:ext>
            </a:extLst>
          </p:cNvPr>
          <p:cNvSpPr/>
          <p:nvPr/>
        </p:nvSpPr>
        <p:spPr>
          <a:xfrm>
            <a:off x="4381500" y="1944688"/>
            <a:ext cx="3429000" cy="3810000"/>
          </a:xfrm>
          <a:prstGeom prst="roundRect">
            <a:avLst/>
          </a:prstGeom>
          <a:solidFill>
            <a:srgbClr val="1B2838"/>
          </a:solidFill>
          <a:ln w="25400" cap="flat" cmpd="sng" algn="ctr">
            <a:solidFill>
              <a:srgbClr val="7B68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1B2838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6F5158D7-2924-4F68-93EB-35435532C783}"/>
              </a:ext>
            </a:extLst>
          </p:cNvPr>
          <p:cNvSpPr/>
          <p:nvPr/>
        </p:nvSpPr>
        <p:spPr>
          <a:xfrm>
            <a:off x="5778500" y="2198688"/>
            <a:ext cx="635000" cy="635000"/>
          </a:xfrm>
          <a:prstGeom prst="ellipse">
            <a:avLst/>
          </a:prstGeom>
          <a:solidFill>
            <a:srgbClr val="7B68E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sz="2200" b="1">
                <a:solidFill>
                  <a:srgbClr val="FFFFFF"/>
                </a:solidFill>
              </a:rPr>
              <a:t>W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DE8E529-0BF3-4116-B50E-1A7E9CE15941}"/>
              </a:ext>
            </a:extLst>
          </p:cNvPr>
          <p:cNvSpPr txBox="1"/>
          <p:nvPr/>
        </p:nvSpPr>
        <p:spPr>
          <a:xfrm>
            <a:off x="4572000" y="3024188"/>
            <a:ext cx="304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2000" b="1">
                <a:solidFill>
                  <a:srgbClr val="7B68EE"/>
                </a:solidFill>
              </a:rPr>
              <a:t>Swarm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FF959E7-4A2E-491C-B0E1-CC9EC18F5277}"/>
              </a:ext>
            </a:extLst>
          </p:cNvPr>
          <p:cNvSpPr txBox="1"/>
          <p:nvPr/>
        </p:nvSpPr>
        <p:spPr>
          <a:xfrm>
            <a:off x="4572000" y="3595688"/>
            <a:ext cx="3048000" cy="9233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es-CO">
                <a:solidFill>
                  <a:srgbClr val="C8D6E5"/>
                </a:solidFill>
              </a:rPr>
              <a:t>Agentes autónomos se comunican entre sí de forma descentralizada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CB32A07F-E4D1-4939-BC24-0941F1BDD411}"/>
              </a:ext>
            </a:extLst>
          </p:cNvPr>
          <p:cNvSpPr/>
          <p:nvPr/>
        </p:nvSpPr>
        <p:spPr>
          <a:xfrm>
            <a:off x="4762500" y="4865688"/>
            <a:ext cx="2667000" cy="508000"/>
          </a:xfrm>
          <a:prstGeom prst="roundRect">
            <a:avLst/>
          </a:prstGeom>
          <a:solidFill>
            <a:srgbClr val="7B68E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s-ES" sz="1400" b="1">
                <a:solidFill>
                  <a:srgbClr val="1B2838"/>
                </a:solidFill>
              </a:rPr>
              <a:t>Sin punto central de fallo</a:t>
            </a:r>
            <a:endParaRPr lang="es-CO" sz="1400" b="1">
              <a:solidFill>
                <a:srgbClr val="1B2838"/>
              </a:solidFill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55422905-9A47-46BD-8C45-0128F76D8A74}"/>
              </a:ext>
            </a:extLst>
          </p:cNvPr>
          <p:cNvSpPr/>
          <p:nvPr/>
        </p:nvSpPr>
        <p:spPr>
          <a:xfrm>
            <a:off x="8128000" y="1944688"/>
            <a:ext cx="3429000" cy="3810000"/>
          </a:xfrm>
          <a:prstGeom prst="roundRect">
            <a:avLst/>
          </a:prstGeom>
          <a:solidFill>
            <a:srgbClr val="1B2838"/>
          </a:solidFill>
          <a:ln w="25400" cap="flat" cmpd="sng" algn="ctr">
            <a:solidFill>
              <a:srgbClr val="FFD9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1B2838"/>
              </a:solidFill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8E1656A-E8D5-45D2-9A51-DD9A95F0F6F3}"/>
              </a:ext>
            </a:extLst>
          </p:cNvPr>
          <p:cNvSpPr/>
          <p:nvPr/>
        </p:nvSpPr>
        <p:spPr>
          <a:xfrm>
            <a:off x="9525000" y="2198688"/>
            <a:ext cx="635000" cy="635000"/>
          </a:xfrm>
          <a:prstGeom prst="ellipse">
            <a:avLst/>
          </a:prstGeom>
          <a:solidFill>
            <a:srgbClr val="FFD9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sz="2200" b="1">
                <a:solidFill>
                  <a:srgbClr val="FFFFFF"/>
                </a:solidFill>
              </a:rPr>
              <a:t>J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0808582-55A2-4975-85C6-4988BB5FE20A}"/>
              </a:ext>
            </a:extLst>
          </p:cNvPr>
          <p:cNvSpPr txBox="1"/>
          <p:nvPr/>
        </p:nvSpPr>
        <p:spPr>
          <a:xfrm>
            <a:off x="8318500" y="3024188"/>
            <a:ext cx="304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2000" b="1">
                <a:solidFill>
                  <a:srgbClr val="FFD93D"/>
                </a:solidFill>
              </a:rPr>
              <a:t>Jerárquico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934B711F-953A-4614-B3D3-35956D645E27}"/>
              </a:ext>
            </a:extLst>
          </p:cNvPr>
          <p:cNvSpPr txBox="1"/>
          <p:nvPr/>
        </p:nvSpPr>
        <p:spPr>
          <a:xfrm>
            <a:off x="8318500" y="3595688"/>
            <a:ext cx="3048000" cy="9233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es-ES">
                <a:solidFill>
                  <a:srgbClr val="C8D6E5"/>
                </a:solidFill>
              </a:rPr>
              <a:t>Múltiples niveles de supervisores y sub-equipos de agentes</a:t>
            </a:r>
            <a:endParaRPr lang="es-CO">
              <a:solidFill>
                <a:srgbClr val="C8D6E5"/>
              </a:solidFill>
            </a:endParaRP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E5FAD474-6C93-47FD-A0CC-32FD3B835B84}"/>
              </a:ext>
            </a:extLst>
          </p:cNvPr>
          <p:cNvSpPr/>
          <p:nvPr/>
        </p:nvSpPr>
        <p:spPr>
          <a:xfrm>
            <a:off x="8509000" y="4865688"/>
            <a:ext cx="2667000" cy="508000"/>
          </a:xfrm>
          <a:prstGeom prst="roundRect">
            <a:avLst/>
          </a:prstGeom>
          <a:solidFill>
            <a:srgbClr val="FFD9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s-CO" sz="1400" b="1">
                <a:solidFill>
                  <a:srgbClr val="1B2838"/>
                </a:solidFill>
              </a:rPr>
              <a:t>Para sistemas complejos</a:t>
            </a:r>
          </a:p>
        </p:txBody>
      </p:sp>
    </p:spTree>
    <p:extLst>
      <p:ext uri="{BB962C8B-B14F-4D97-AF65-F5344CB8AC3E}">
        <p14:creationId xmlns:p14="http://schemas.microsoft.com/office/powerpoint/2010/main" val="2208939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32A0E7-24A0-DABC-0C77-62AC4B50B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s-CO" dirty="0" err="1"/>
              <a:t>LangGraph</a:t>
            </a:r>
            <a:r>
              <a:rPr lang="es-CO" dirty="0"/>
              <a:t> — Grafos de Estado para Agentes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AF1FD1C-10FE-4589-A1FE-459D8C0CA5DB}"/>
              </a:ext>
            </a:extLst>
          </p:cNvPr>
          <p:cNvSpPr txBox="1"/>
          <p:nvPr/>
        </p:nvSpPr>
        <p:spPr>
          <a:xfrm>
            <a:off x="635000" y="2643913"/>
            <a:ext cx="5461000" cy="9233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es-CO" i="1" dirty="0"/>
              <a:t>Framework de </a:t>
            </a:r>
            <a:r>
              <a:rPr lang="es-CO" i="1" dirty="0" err="1"/>
              <a:t>LangChain</a:t>
            </a:r>
            <a:r>
              <a:rPr lang="es-CO" i="1" dirty="0"/>
              <a:t> para construir aplicaciones </a:t>
            </a:r>
            <a:r>
              <a:rPr lang="es-CO" i="1" dirty="0" err="1"/>
              <a:t>multiagente</a:t>
            </a:r>
            <a:r>
              <a:rPr lang="es-CO" i="1" dirty="0"/>
              <a:t> con estado, modeladas como grafos dirigidos.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CE091DF-D1D9-4E87-9B1A-B7CE192E9885}"/>
              </a:ext>
            </a:extLst>
          </p:cNvPr>
          <p:cNvSpPr txBox="1"/>
          <p:nvPr/>
        </p:nvSpPr>
        <p:spPr>
          <a:xfrm>
            <a:off x="635000" y="3798025"/>
            <a:ext cx="5461000" cy="175432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es-ES" dirty="0"/>
              <a:t>• Los nodos son funciones (agentes o pasos)
• Las aristas definen transiciones condicionales
• El estado se comparte y persiste entre nodos
• Soporta </a:t>
            </a:r>
            <a:r>
              <a:rPr lang="es-ES" dirty="0" err="1"/>
              <a:t>checkpoints</a:t>
            </a:r>
            <a:r>
              <a:rPr lang="es-ES" dirty="0"/>
              <a:t> para reanudar flujos
• Integración nativa con </a:t>
            </a:r>
            <a:r>
              <a:rPr lang="es-ES" dirty="0" err="1"/>
              <a:t>LangChain</a:t>
            </a:r>
            <a:r>
              <a:rPr lang="es-ES" dirty="0"/>
              <a:t> y </a:t>
            </a:r>
            <a:r>
              <a:rPr lang="es-ES" dirty="0" err="1"/>
              <a:t>LLMs</a:t>
            </a:r>
            <a:r>
              <a:rPr lang="es-ES" dirty="0"/>
              <a:t>
• Ideal para </a:t>
            </a:r>
            <a:r>
              <a:rPr lang="es-ES" dirty="0" err="1"/>
              <a:t>workflows</a:t>
            </a:r>
            <a:r>
              <a:rPr lang="es-ES" dirty="0"/>
              <a:t> complejos con decisiones</a:t>
            </a:r>
            <a:endParaRPr lang="es-CO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046732A4-F78C-4303-9CDC-9B5144E1CB78}"/>
              </a:ext>
            </a:extLst>
          </p:cNvPr>
          <p:cNvSpPr/>
          <p:nvPr/>
        </p:nvSpPr>
        <p:spPr>
          <a:xfrm>
            <a:off x="7937500" y="2008188"/>
            <a:ext cx="1016000" cy="508000"/>
          </a:xfrm>
          <a:prstGeom prst="ellipse">
            <a:avLst/>
          </a:prstGeom>
          <a:solidFill>
            <a:srgbClr val="00D4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s-CO" sz="1400" b="1">
                <a:solidFill>
                  <a:srgbClr val="0D1B2A"/>
                </a:solidFill>
              </a:rPr>
              <a:t>START</a:t>
            </a:r>
          </a:p>
        </p:txBody>
      </p:sp>
      <p:sp>
        <p:nvSpPr>
          <p:cNvPr id="6" name="Flecha: hacia abajo 5">
            <a:extLst>
              <a:ext uri="{FF2B5EF4-FFF2-40B4-BE49-F238E27FC236}">
                <a16:creationId xmlns:a16="http://schemas.microsoft.com/office/drawing/2014/main" id="{B54A10B0-16F4-418E-A4FB-11FBBA13EC17}"/>
              </a:ext>
            </a:extLst>
          </p:cNvPr>
          <p:cNvSpPr/>
          <p:nvPr/>
        </p:nvSpPr>
        <p:spPr>
          <a:xfrm>
            <a:off x="8255000" y="2579688"/>
            <a:ext cx="444500" cy="444500"/>
          </a:xfrm>
          <a:prstGeom prst="downArrow">
            <a:avLst/>
          </a:prstGeom>
          <a:solidFill>
            <a:srgbClr val="C8D6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DB726B4-F00E-447F-8C06-8A0035BF7586}"/>
              </a:ext>
            </a:extLst>
          </p:cNvPr>
          <p:cNvSpPr/>
          <p:nvPr/>
        </p:nvSpPr>
        <p:spPr>
          <a:xfrm>
            <a:off x="6985000" y="3341688"/>
            <a:ext cx="1270000" cy="571500"/>
          </a:xfrm>
          <a:prstGeom prst="roundRect">
            <a:avLst/>
          </a:prstGeom>
          <a:solidFill>
            <a:srgbClr val="7B68E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s-CO" sz="1400">
                <a:solidFill>
                  <a:srgbClr val="FFFFFF"/>
                </a:solidFill>
              </a:rPr>
              <a:t>Agente A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62E261F1-EA3C-41C6-85A8-BDD12E1F8595}"/>
              </a:ext>
            </a:extLst>
          </p:cNvPr>
          <p:cNvSpPr/>
          <p:nvPr/>
        </p:nvSpPr>
        <p:spPr>
          <a:xfrm>
            <a:off x="8636000" y="3341688"/>
            <a:ext cx="1270000" cy="571500"/>
          </a:xfrm>
          <a:prstGeom prst="roundRect">
            <a:avLst/>
          </a:prstGeom>
          <a:solidFill>
            <a:srgbClr val="4ECDC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s-CO" sz="1400">
                <a:solidFill>
                  <a:srgbClr val="0D1B2A"/>
                </a:solidFill>
              </a:rPr>
              <a:t>Agente B</a:t>
            </a:r>
          </a:p>
        </p:txBody>
      </p:sp>
      <p:sp>
        <p:nvSpPr>
          <p:cNvPr id="9" name="Flecha: hacia abajo 8">
            <a:extLst>
              <a:ext uri="{FF2B5EF4-FFF2-40B4-BE49-F238E27FC236}">
                <a16:creationId xmlns:a16="http://schemas.microsoft.com/office/drawing/2014/main" id="{DEBB9513-28C4-4F32-ACA1-E86EDB799258}"/>
              </a:ext>
            </a:extLst>
          </p:cNvPr>
          <p:cNvSpPr/>
          <p:nvPr/>
        </p:nvSpPr>
        <p:spPr>
          <a:xfrm>
            <a:off x="8255000" y="3976688"/>
            <a:ext cx="444500" cy="444500"/>
          </a:xfrm>
          <a:prstGeom prst="downArrow">
            <a:avLst/>
          </a:prstGeom>
          <a:solidFill>
            <a:srgbClr val="C8D6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D0B3FB90-1265-4B21-9C29-F32E836ABF4F}"/>
              </a:ext>
            </a:extLst>
          </p:cNvPr>
          <p:cNvSpPr/>
          <p:nvPr/>
        </p:nvSpPr>
        <p:spPr>
          <a:xfrm>
            <a:off x="7937500" y="4675188"/>
            <a:ext cx="1016000" cy="508000"/>
          </a:xfrm>
          <a:prstGeom prst="ellipse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s-CO" sz="1400" b="1">
                <a:solidFill>
                  <a:srgbClr val="FFFFFF"/>
                </a:solidFill>
              </a:rPr>
              <a:t>END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C283B36-45F6-45CB-87FC-7D430E18912E}"/>
              </a:ext>
            </a:extLst>
          </p:cNvPr>
          <p:cNvSpPr txBox="1"/>
          <p:nvPr/>
        </p:nvSpPr>
        <p:spPr>
          <a:xfrm>
            <a:off x="7747000" y="5310188"/>
            <a:ext cx="1524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 i="1">
                <a:solidFill>
                  <a:srgbClr val="C8D6E5"/>
                </a:solidFill>
              </a:rPr>
              <a:t>StateGraph</a:t>
            </a:r>
          </a:p>
        </p:txBody>
      </p:sp>
    </p:spTree>
    <p:extLst>
      <p:ext uri="{BB962C8B-B14F-4D97-AF65-F5344CB8AC3E}">
        <p14:creationId xmlns:p14="http://schemas.microsoft.com/office/powerpoint/2010/main" val="3498547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27717-C46B-977D-DD7D-F22A9E10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Componentes de LangGraph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EC6AA4C9-1D71-42E4-9ECD-64396AE14784}"/>
              </a:ext>
            </a:extLst>
          </p:cNvPr>
          <p:cNvSpPr/>
          <p:nvPr/>
        </p:nvSpPr>
        <p:spPr>
          <a:xfrm>
            <a:off x="635000" y="1778000"/>
            <a:ext cx="5207000" cy="1905000"/>
          </a:xfrm>
          <a:prstGeom prst="roundRect">
            <a:avLst/>
          </a:prstGeom>
          <a:solidFill>
            <a:srgbClr val="1B2838"/>
          </a:solidFill>
          <a:ln w="25400" cap="flat" cmpd="sng" algn="ctr">
            <a:solidFill>
              <a:srgbClr val="00D4A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1B2838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1864179-6700-4963-9695-C1CC6DCD6197}"/>
              </a:ext>
            </a:extLst>
          </p:cNvPr>
          <p:cNvSpPr txBox="1"/>
          <p:nvPr/>
        </p:nvSpPr>
        <p:spPr>
          <a:xfrm>
            <a:off x="825500" y="1930400"/>
            <a:ext cx="4826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b="1" dirty="0" err="1">
                <a:solidFill>
                  <a:srgbClr val="00D4AA"/>
                </a:solidFill>
              </a:rPr>
              <a:t>StateGraph</a:t>
            </a:r>
            <a:endParaRPr lang="es-CO" b="1" dirty="0">
              <a:solidFill>
                <a:srgbClr val="00D4AA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F1A6008-8DC4-4B84-A365-1EF7B076ED4A}"/>
              </a:ext>
            </a:extLst>
          </p:cNvPr>
          <p:cNvSpPr txBox="1"/>
          <p:nvPr/>
        </p:nvSpPr>
        <p:spPr>
          <a:xfrm>
            <a:off x="825500" y="2476500"/>
            <a:ext cx="4826000" cy="9233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es-ES" dirty="0">
                <a:solidFill>
                  <a:srgbClr val="C8D6E5"/>
                </a:solidFill>
              </a:rPr>
              <a:t>Grafo principal que define nodos, aristas y estado compartido. Es el contenedor de toda la lógica del agente.</a:t>
            </a:r>
            <a:endParaRPr lang="es-CO" dirty="0">
              <a:solidFill>
                <a:srgbClr val="C8D6E5"/>
              </a:solidFill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6F939FC6-FBFA-46E4-9424-2B5EE716DC53}"/>
              </a:ext>
            </a:extLst>
          </p:cNvPr>
          <p:cNvSpPr/>
          <p:nvPr/>
        </p:nvSpPr>
        <p:spPr>
          <a:xfrm>
            <a:off x="6350000" y="1778000"/>
            <a:ext cx="5207000" cy="1905000"/>
          </a:xfrm>
          <a:prstGeom prst="roundRect">
            <a:avLst/>
          </a:prstGeom>
          <a:solidFill>
            <a:srgbClr val="1B2838"/>
          </a:solidFill>
          <a:ln w="25400" cap="flat" cmpd="sng" algn="ctr">
            <a:solidFill>
              <a:srgbClr val="7B68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1B2838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A224437-B50A-42D7-A40A-35BE14F11E6B}"/>
              </a:ext>
            </a:extLst>
          </p:cNvPr>
          <p:cNvSpPr txBox="1"/>
          <p:nvPr/>
        </p:nvSpPr>
        <p:spPr>
          <a:xfrm>
            <a:off x="6540500" y="1930400"/>
            <a:ext cx="4826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b="1">
                <a:solidFill>
                  <a:srgbClr val="7B68EE"/>
                </a:solidFill>
              </a:rPr>
              <a:t>Nodos (Nodes)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93144C4-49F4-4358-B009-A96397C7EC7B}"/>
              </a:ext>
            </a:extLst>
          </p:cNvPr>
          <p:cNvSpPr txBox="1"/>
          <p:nvPr/>
        </p:nvSpPr>
        <p:spPr>
          <a:xfrm>
            <a:off x="6540500" y="2476500"/>
            <a:ext cx="4826000" cy="9233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es-ES">
                <a:solidFill>
                  <a:srgbClr val="C8D6E5"/>
                </a:solidFill>
              </a:rPr>
              <a:t>Funciones Python que procesan y transforman el estado. Cada agente es un nodo independiente.</a:t>
            </a:r>
            <a:endParaRPr lang="es-CO">
              <a:solidFill>
                <a:srgbClr val="C8D6E5"/>
              </a:solidFill>
            </a:endParaRP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37CDC249-5AB8-4CDA-BFA8-45AA8A4D1D15}"/>
              </a:ext>
            </a:extLst>
          </p:cNvPr>
          <p:cNvSpPr/>
          <p:nvPr/>
        </p:nvSpPr>
        <p:spPr>
          <a:xfrm>
            <a:off x="635000" y="4064000"/>
            <a:ext cx="5207000" cy="1905000"/>
          </a:xfrm>
          <a:prstGeom prst="roundRect">
            <a:avLst/>
          </a:prstGeom>
          <a:solidFill>
            <a:srgbClr val="1B2838"/>
          </a:solidFill>
          <a:ln w="25400" cap="flat" cmpd="sng" algn="ctr">
            <a:solidFill>
              <a:srgbClr val="FFD9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1B2838"/>
              </a:solidFill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50EE6EA-D649-4FC0-B440-675EAF753A68}"/>
              </a:ext>
            </a:extLst>
          </p:cNvPr>
          <p:cNvSpPr txBox="1"/>
          <p:nvPr/>
        </p:nvSpPr>
        <p:spPr>
          <a:xfrm>
            <a:off x="825500" y="4216400"/>
            <a:ext cx="4826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b="1">
                <a:solidFill>
                  <a:srgbClr val="FFD93D"/>
                </a:solidFill>
              </a:rPr>
              <a:t>Aristas (Edges)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3EC291B-E245-4FFD-BFCD-AB2FA15A13BF}"/>
              </a:ext>
            </a:extLst>
          </p:cNvPr>
          <p:cNvSpPr txBox="1"/>
          <p:nvPr/>
        </p:nvSpPr>
        <p:spPr>
          <a:xfrm>
            <a:off x="825500" y="4762500"/>
            <a:ext cx="4826000" cy="9233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es-ES">
                <a:solidFill>
                  <a:srgbClr val="C8D6E5"/>
                </a:solidFill>
              </a:rPr>
              <a:t>Definen las transiciones entre nodos. Pueden ser condicionales basadas en el estado actual.</a:t>
            </a:r>
            <a:endParaRPr lang="es-CO">
              <a:solidFill>
                <a:srgbClr val="C8D6E5"/>
              </a:solidFill>
            </a:endParaRP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D91229DD-A3B6-4D9A-9420-8C926083B316}"/>
              </a:ext>
            </a:extLst>
          </p:cNvPr>
          <p:cNvSpPr/>
          <p:nvPr/>
        </p:nvSpPr>
        <p:spPr>
          <a:xfrm>
            <a:off x="6350000" y="4064000"/>
            <a:ext cx="5207000" cy="1905000"/>
          </a:xfrm>
          <a:prstGeom prst="roundRect">
            <a:avLst/>
          </a:prstGeom>
          <a:solidFill>
            <a:srgbClr val="1B2838"/>
          </a:solidFill>
          <a:ln w="25400" cap="flat" cmpd="sng" algn="ctr">
            <a:solidFill>
              <a:srgbClr val="4ECD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1B2838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AB99C35-DF90-46E9-8BEE-70110A5724A4}"/>
              </a:ext>
            </a:extLst>
          </p:cNvPr>
          <p:cNvSpPr txBox="1"/>
          <p:nvPr/>
        </p:nvSpPr>
        <p:spPr>
          <a:xfrm>
            <a:off x="6540500" y="4216400"/>
            <a:ext cx="4826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b="1">
                <a:solidFill>
                  <a:srgbClr val="4ECDC4"/>
                </a:solidFill>
              </a:rPr>
              <a:t>Checkpoints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8CD030A-4EB6-414F-BCAE-9311D34601CB}"/>
              </a:ext>
            </a:extLst>
          </p:cNvPr>
          <p:cNvSpPr txBox="1"/>
          <p:nvPr/>
        </p:nvSpPr>
        <p:spPr>
          <a:xfrm>
            <a:off x="6540500" y="4762500"/>
            <a:ext cx="4826000" cy="9233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just"/>
            <a:r>
              <a:rPr lang="es-ES">
                <a:solidFill>
                  <a:srgbClr val="C8D6E5"/>
                </a:solidFill>
              </a:rPr>
              <a:t>Persisten el estado en cada paso. Permiten reanudar, depurar y crear puntos de recuperación.</a:t>
            </a:r>
            <a:endParaRPr lang="es-CO">
              <a:solidFill>
                <a:srgbClr val="C8D6E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3243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E59156-9F92-7A33-2F31-B607FAB73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Claude como Motor del Sistema</a:t>
            </a:r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8BBEF2-8896-409B-9E1B-7497BC4750F7}"/>
              </a:ext>
            </a:extLst>
          </p:cNvPr>
          <p:cNvSpPr txBox="1"/>
          <p:nvPr/>
        </p:nvSpPr>
        <p:spPr>
          <a:xfrm>
            <a:off x="457200" y="1778000"/>
            <a:ext cx="279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b="1">
                <a:solidFill>
                  <a:srgbClr val="00D4AA"/>
                </a:solidFill>
              </a:rPr>
              <a:t>¿Por qué Claude?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236D640E-A83B-4484-B2E6-0CD2BC2B13BE}"/>
              </a:ext>
            </a:extLst>
          </p:cNvPr>
          <p:cNvSpPr/>
          <p:nvPr/>
        </p:nvSpPr>
        <p:spPr>
          <a:xfrm>
            <a:off x="457200" y="2260600"/>
            <a:ext cx="2222500" cy="7874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7B68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4578138-A50C-4332-B8E6-736F49AFC667}"/>
              </a:ext>
            </a:extLst>
          </p:cNvPr>
          <p:cNvSpPr/>
          <p:nvPr/>
        </p:nvSpPr>
        <p:spPr>
          <a:xfrm>
            <a:off x="469900" y="2413000"/>
            <a:ext cx="50800" cy="482600"/>
          </a:xfrm>
          <a:prstGeom prst="rect">
            <a:avLst/>
          </a:prstGeom>
          <a:solidFill>
            <a:srgbClr val="7B68E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67882EC-43A6-4CA0-8FAA-DE2043E621C9}"/>
              </a:ext>
            </a:extLst>
          </p:cNvPr>
          <p:cNvSpPr txBox="1"/>
          <p:nvPr/>
        </p:nvSpPr>
        <p:spPr>
          <a:xfrm>
            <a:off x="609600" y="2336800"/>
            <a:ext cx="20193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CO" sz="1400" b="1">
                <a:solidFill>
                  <a:srgbClr val="FFFFFF"/>
                </a:solidFill>
              </a:rPr>
              <a:t>Razonamiento
avanzado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EB9FC345-CA61-4262-82D8-7368C520B0C8}"/>
              </a:ext>
            </a:extLst>
          </p:cNvPr>
          <p:cNvSpPr/>
          <p:nvPr/>
        </p:nvSpPr>
        <p:spPr>
          <a:xfrm>
            <a:off x="2857500" y="2260600"/>
            <a:ext cx="2222500" cy="7874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4ECD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8BAD866-4FD0-4D08-A140-FB0C5F86A278}"/>
              </a:ext>
            </a:extLst>
          </p:cNvPr>
          <p:cNvSpPr/>
          <p:nvPr/>
        </p:nvSpPr>
        <p:spPr>
          <a:xfrm>
            <a:off x="2870200" y="2413000"/>
            <a:ext cx="50800" cy="482600"/>
          </a:xfrm>
          <a:prstGeom prst="rect">
            <a:avLst/>
          </a:prstGeom>
          <a:solidFill>
            <a:srgbClr val="4ECDC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3CE86FB-0F9E-47F0-BDF6-A6463E905516}"/>
              </a:ext>
            </a:extLst>
          </p:cNvPr>
          <p:cNvSpPr txBox="1"/>
          <p:nvPr/>
        </p:nvSpPr>
        <p:spPr>
          <a:xfrm>
            <a:off x="3009900" y="2336800"/>
            <a:ext cx="20193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CO" sz="1400" b="1">
                <a:solidFill>
                  <a:srgbClr val="FFFFFF"/>
                </a:solidFill>
              </a:rPr>
              <a:t>Tool Use
nativo JSON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51444B21-673A-4AC1-9A17-976F769E2CAA}"/>
              </a:ext>
            </a:extLst>
          </p:cNvPr>
          <p:cNvSpPr/>
          <p:nvPr/>
        </p:nvSpPr>
        <p:spPr>
          <a:xfrm>
            <a:off x="457200" y="3175000"/>
            <a:ext cx="2222500" cy="7874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FFD9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41EFF43-A7EC-4AFD-ADF9-3EE60B49A95D}"/>
              </a:ext>
            </a:extLst>
          </p:cNvPr>
          <p:cNvSpPr/>
          <p:nvPr/>
        </p:nvSpPr>
        <p:spPr>
          <a:xfrm>
            <a:off x="469900" y="3327400"/>
            <a:ext cx="50800" cy="482600"/>
          </a:xfrm>
          <a:prstGeom prst="rect">
            <a:avLst/>
          </a:prstGeom>
          <a:solidFill>
            <a:srgbClr val="FFD9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9151DBA-4FF6-48CD-9095-511931C5B5FD}"/>
              </a:ext>
            </a:extLst>
          </p:cNvPr>
          <p:cNvSpPr txBox="1"/>
          <p:nvPr/>
        </p:nvSpPr>
        <p:spPr>
          <a:xfrm>
            <a:off x="609600" y="3251200"/>
            <a:ext cx="20193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CO" sz="1400" b="1">
                <a:solidFill>
                  <a:srgbClr val="FFFFFF"/>
                </a:solidFill>
              </a:rPr>
              <a:t>Contexto
200K–1M tokens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C899B6D8-107A-4054-9DB4-92959C9ED526}"/>
              </a:ext>
            </a:extLst>
          </p:cNvPr>
          <p:cNvSpPr/>
          <p:nvPr/>
        </p:nvSpPr>
        <p:spPr>
          <a:xfrm>
            <a:off x="2857500" y="3175000"/>
            <a:ext cx="2222500" cy="7874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FF6B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933233B-C2D3-4ED3-9385-DE54A63F562E}"/>
              </a:ext>
            </a:extLst>
          </p:cNvPr>
          <p:cNvSpPr/>
          <p:nvPr/>
        </p:nvSpPr>
        <p:spPr>
          <a:xfrm>
            <a:off x="2870200" y="3327400"/>
            <a:ext cx="50800" cy="482600"/>
          </a:xfrm>
          <a:prstGeom prst="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62E90BB-4CA2-47B1-91A6-8A11542E70B9}"/>
              </a:ext>
            </a:extLst>
          </p:cNvPr>
          <p:cNvSpPr txBox="1"/>
          <p:nvPr/>
        </p:nvSpPr>
        <p:spPr>
          <a:xfrm>
            <a:off x="3009900" y="3251200"/>
            <a:ext cx="20193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CO" sz="1400" b="1">
                <a:solidFill>
                  <a:srgbClr val="FFFFFF"/>
                </a:solidFill>
              </a:rPr>
              <a:t>Respuestas
estructuradas</a:t>
            </a: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A6242F36-50FC-436F-A7AF-4D3541E242AF}"/>
              </a:ext>
            </a:extLst>
          </p:cNvPr>
          <p:cNvSpPr/>
          <p:nvPr/>
        </p:nvSpPr>
        <p:spPr>
          <a:xfrm>
            <a:off x="457200" y="4089400"/>
            <a:ext cx="2222500" cy="7874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00D4A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7D16D68-E024-4AE3-A674-3A6A60D0F44A}"/>
              </a:ext>
            </a:extLst>
          </p:cNvPr>
          <p:cNvSpPr/>
          <p:nvPr/>
        </p:nvSpPr>
        <p:spPr>
          <a:xfrm>
            <a:off x="469900" y="4241800"/>
            <a:ext cx="50800" cy="482600"/>
          </a:xfrm>
          <a:prstGeom prst="rect">
            <a:avLst/>
          </a:prstGeom>
          <a:solidFill>
            <a:srgbClr val="00D4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E6E872EB-8520-4895-A65E-34B635AF2260}"/>
              </a:ext>
            </a:extLst>
          </p:cNvPr>
          <p:cNvSpPr txBox="1"/>
          <p:nvPr/>
        </p:nvSpPr>
        <p:spPr>
          <a:xfrm>
            <a:off x="609600" y="4165600"/>
            <a:ext cx="20193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CO" sz="1400" b="1">
                <a:solidFill>
                  <a:srgbClr val="FFFFFF"/>
                </a:solidFill>
              </a:rPr>
              <a:t>Multi-modelo
(Opus/Sonnet/Haiku)</a:t>
            </a: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2BFC5B58-2BC6-44B7-BB83-805EE4E3DA4F}"/>
              </a:ext>
            </a:extLst>
          </p:cNvPr>
          <p:cNvSpPr/>
          <p:nvPr/>
        </p:nvSpPr>
        <p:spPr>
          <a:xfrm>
            <a:off x="2857500" y="4089400"/>
            <a:ext cx="2222500" cy="7874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6C5CE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10E93CE-1D78-4E0A-B3FD-7F401F9536FB}"/>
              </a:ext>
            </a:extLst>
          </p:cNvPr>
          <p:cNvSpPr/>
          <p:nvPr/>
        </p:nvSpPr>
        <p:spPr>
          <a:xfrm>
            <a:off x="2870200" y="4241800"/>
            <a:ext cx="50800" cy="482600"/>
          </a:xfrm>
          <a:prstGeom prst="rect">
            <a:avLst/>
          </a:prstGeom>
          <a:solidFill>
            <a:srgbClr val="6C5CE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0F7A3C8-B4AA-4E3F-AB7C-5C0A97CBB22F}"/>
              </a:ext>
            </a:extLst>
          </p:cNvPr>
          <p:cNvSpPr txBox="1"/>
          <p:nvPr/>
        </p:nvSpPr>
        <p:spPr>
          <a:xfrm>
            <a:off x="3009900" y="4165600"/>
            <a:ext cx="20193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CO" sz="1400" b="1">
                <a:solidFill>
                  <a:srgbClr val="FFFFFF"/>
                </a:solidFill>
              </a:rPr>
              <a:t>Seguridad
alineada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D250842-0F57-4419-938A-C46AC34D9F84}"/>
              </a:ext>
            </a:extLst>
          </p:cNvPr>
          <p:cNvSpPr txBox="1"/>
          <p:nvPr/>
        </p:nvSpPr>
        <p:spPr>
          <a:xfrm>
            <a:off x="457200" y="5143500"/>
            <a:ext cx="46228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 i="1">
                <a:solidFill>
                  <a:srgbClr val="8EEEDD"/>
                </a:solidFill>
              </a:rPr>
              <a:t>En el proyecto: Claude como LLM principal
para los agentes de marketing vía API</a:t>
            </a:r>
            <a:endParaRPr lang="es-CO" sz="1400" i="1">
              <a:solidFill>
                <a:srgbClr val="8EEEDD"/>
              </a:solidFill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4B323BA-3170-4F7D-8058-8724946F8673}"/>
              </a:ext>
            </a:extLst>
          </p:cNvPr>
          <p:cNvSpPr txBox="1"/>
          <p:nvPr/>
        </p:nvSpPr>
        <p:spPr>
          <a:xfrm>
            <a:off x="6223000" y="1778000"/>
            <a:ext cx="546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700" b="1">
                <a:solidFill>
                  <a:srgbClr val="00D4AA"/>
                </a:solidFill>
              </a:rPr>
              <a:t>Pricing por Token (Abril 2026)</a:t>
            </a:r>
          </a:p>
        </p:txBody>
      </p:sp>
      <p:graphicFrame>
        <p:nvGraphicFramePr>
          <p:cNvPr id="27" name="Tabla 26">
            <a:extLst>
              <a:ext uri="{FF2B5EF4-FFF2-40B4-BE49-F238E27FC236}">
                <a16:creationId xmlns:a16="http://schemas.microsoft.com/office/drawing/2014/main" id="{E006AE0E-6B92-4A25-8A7A-7E298A25D196}"/>
              </a:ext>
            </a:extLst>
          </p:cNvPr>
          <p:cNvGraphicFramePr>
            <a:graphicFrameLocks noGrp="1"/>
          </p:cNvGraphicFramePr>
          <p:nvPr/>
        </p:nvGraphicFramePr>
        <p:xfrm>
          <a:off x="6223000" y="2222500"/>
          <a:ext cx="5461000" cy="1946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250">
                  <a:extLst>
                    <a:ext uri="{9D8B030D-6E8A-4147-A177-3AD203B41FA5}">
                      <a16:colId xmlns:a16="http://schemas.microsoft.com/office/drawing/2014/main" val="416312568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105087147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1030144697"/>
                    </a:ext>
                  </a:extLst>
                </a:gridCol>
                <a:gridCol w="1365250">
                  <a:extLst>
                    <a:ext uri="{9D8B030D-6E8A-4147-A177-3AD203B41FA5}">
                      <a16:colId xmlns:a16="http://schemas.microsoft.com/office/drawing/2014/main" val="911006179"/>
                    </a:ext>
                  </a:extLst>
                </a:gridCol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s-CO" sz="1400" b="1">
                          <a:solidFill>
                            <a:srgbClr val="0D1B2A"/>
                          </a:solidFill>
                        </a:rPr>
                        <a:t>Modelo</a:t>
                      </a:r>
                    </a:p>
                  </a:txBody>
                  <a:tcPr anchor="ctr"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>
                          <a:solidFill>
                            <a:srgbClr val="0D1B2A"/>
                          </a:solidFill>
                        </a:rPr>
                        <a:t>Input / MTok</a:t>
                      </a:r>
                    </a:p>
                  </a:txBody>
                  <a:tcPr anchor="ctr"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>
                          <a:solidFill>
                            <a:srgbClr val="0D1B2A"/>
                          </a:solidFill>
                        </a:rPr>
                        <a:t>Output / MTok</a:t>
                      </a:r>
                    </a:p>
                  </a:txBody>
                  <a:tcPr anchor="ctr"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>
                          <a:solidFill>
                            <a:srgbClr val="0D1B2A"/>
                          </a:solidFill>
                        </a:rPr>
                        <a:t>Contexto</a:t>
                      </a:r>
                    </a:p>
                  </a:txBody>
                  <a:tcPr anchor="ctr"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58831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s-CO" sz="1400" b="1">
                          <a:solidFill>
                            <a:srgbClr val="7B68EE"/>
                          </a:solidFill>
                        </a:rPr>
                        <a:t>Opus 4.6</a:t>
                      </a:r>
                    </a:p>
                  </a:txBody>
                  <a:tcPr anchor="ctr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>
                          <a:solidFill>
                            <a:srgbClr val="FFFFFF"/>
                          </a:solidFill>
                        </a:rPr>
                        <a:t>$5.00</a:t>
                      </a:r>
                    </a:p>
                  </a:txBody>
                  <a:tcPr anchor="ctr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>
                          <a:solidFill>
                            <a:srgbClr val="FFFFFF"/>
                          </a:solidFill>
                        </a:rPr>
                        <a:t>$25.00</a:t>
                      </a:r>
                    </a:p>
                  </a:txBody>
                  <a:tcPr anchor="ctr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>
                          <a:solidFill>
                            <a:srgbClr val="FFFFFF"/>
                          </a:solidFill>
                        </a:rPr>
                        <a:t>1M tokens</a:t>
                      </a:r>
                    </a:p>
                  </a:txBody>
                  <a:tcPr anchor="ctr">
                    <a:solidFill>
                      <a:srgbClr val="1B2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23719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s-CO" sz="1400" b="1">
                          <a:solidFill>
                            <a:srgbClr val="4ECDC4"/>
                          </a:solidFill>
                        </a:rPr>
                        <a:t>Sonnet 4.6</a:t>
                      </a:r>
                    </a:p>
                  </a:txBody>
                  <a:tcPr anchor="ctr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>
                          <a:solidFill>
                            <a:srgbClr val="FFFFFF"/>
                          </a:solidFill>
                        </a:rPr>
                        <a:t>$3.00</a:t>
                      </a:r>
                    </a:p>
                  </a:txBody>
                  <a:tcPr anchor="ctr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>
                          <a:solidFill>
                            <a:srgbClr val="FFFFFF"/>
                          </a:solidFill>
                        </a:rPr>
                        <a:t>$15.00</a:t>
                      </a:r>
                    </a:p>
                  </a:txBody>
                  <a:tcPr anchor="ctr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>
                          <a:solidFill>
                            <a:srgbClr val="FFFFFF"/>
                          </a:solidFill>
                        </a:rPr>
                        <a:t>1M tokens</a:t>
                      </a:r>
                    </a:p>
                  </a:txBody>
                  <a:tcPr anchor="ctr">
                    <a:solidFill>
                      <a:srgbClr val="1B2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77594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lang="es-CO" sz="1400" b="1">
                          <a:solidFill>
                            <a:srgbClr val="FFD93D"/>
                          </a:solidFill>
                        </a:rPr>
                        <a:t>Haiku 4.5</a:t>
                      </a:r>
                    </a:p>
                  </a:txBody>
                  <a:tcPr anchor="ctr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>
                          <a:solidFill>
                            <a:srgbClr val="FFFFFF"/>
                          </a:solidFill>
                        </a:rPr>
                        <a:t>$1.00</a:t>
                      </a:r>
                    </a:p>
                  </a:txBody>
                  <a:tcPr anchor="ctr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>
                          <a:solidFill>
                            <a:srgbClr val="FFFFFF"/>
                          </a:solidFill>
                        </a:rPr>
                        <a:t>$5.00</a:t>
                      </a:r>
                    </a:p>
                  </a:txBody>
                  <a:tcPr anchor="ctr"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>
                          <a:solidFill>
                            <a:srgbClr val="FFFFFF"/>
                          </a:solidFill>
                        </a:rPr>
                        <a:t>200K tokens</a:t>
                      </a:r>
                    </a:p>
                  </a:txBody>
                  <a:tcPr anchor="ctr">
                    <a:solidFill>
                      <a:srgbClr val="1B28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7059958"/>
                  </a:ext>
                </a:extLst>
              </a:tr>
            </a:tbl>
          </a:graphicData>
        </a:graphic>
      </p:graphicFrame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9C23491-79CF-4965-BD05-CDB5445FEF01}"/>
              </a:ext>
            </a:extLst>
          </p:cNvPr>
          <p:cNvSpPr/>
          <p:nvPr/>
        </p:nvSpPr>
        <p:spPr>
          <a:xfrm>
            <a:off x="6223000" y="4318000"/>
            <a:ext cx="5461000" cy="533400"/>
          </a:xfrm>
          <a:prstGeom prst="roundRect">
            <a:avLst/>
          </a:prstGeom>
          <a:solidFill>
            <a:srgbClr val="1B2838"/>
          </a:solidFill>
          <a:ln w="12700" cap="flat" cmpd="sng" algn="ctr">
            <a:solidFill>
              <a:srgbClr val="7B68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id="{722DC675-AAA5-491B-ABCD-12389AE7068D}"/>
              </a:ext>
            </a:extLst>
          </p:cNvPr>
          <p:cNvSpPr/>
          <p:nvPr/>
        </p:nvSpPr>
        <p:spPr>
          <a:xfrm>
            <a:off x="6375400" y="4470400"/>
            <a:ext cx="228600" cy="228600"/>
          </a:xfrm>
          <a:prstGeom prst="ellipse">
            <a:avLst/>
          </a:prstGeom>
          <a:solidFill>
            <a:srgbClr val="7B68E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F580FE6-9820-42ED-83F0-21D83E451E25}"/>
              </a:ext>
            </a:extLst>
          </p:cNvPr>
          <p:cNvSpPr txBox="1"/>
          <p:nvPr/>
        </p:nvSpPr>
        <p:spPr>
          <a:xfrm>
            <a:off x="6705600" y="4381500"/>
            <a:ext cx="1143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CO" sz="1500" b="1">
                <a:solidFill>
                  <a:srgbClr val="FFFFFF"/>
                </a:solidFill>
              </a:rPr>
              <a:t>Opus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4A9EC289-517B-4001-8206-777FA1DB62F1}"/>
              </a:ext>
            </a:extLst>
          </p:cNvPr>
          <p:cNvSpPr txBox="1"/>
          <p:nvPr/>
        </p:nvSpPr>
        <p:spPr>
          <a:xfrm>
            <a:off x="7848600" y="4381500"/>
            <a:ext cx="254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CO" sz="1500">
                <a:solidFill>
                  <a:srgbClr val="7B68EE"/>
                </a:solidFill>
              </a:rPr>
              <a:t>→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C064607-0705-465D-93CA-9D54492162EF}"/>
              </a:ext>
            </a:extLst>
          </p:cNvPr>
          <p:cNvSpPr txBox="1"/>
          <p:nvPr/>
        </p:nvSpPr>
        <p:spPr>
          <a:xfrm>
            <a:off x="8153400" y="4381500"/>
            <a:ext cx="33655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CO" sz="1400">
                <a:solidFill>
                  <a:srgbClr val="C8D6E5"/>
                </a:solidFill>
              </a:rPr>
              <a:t>Tareas complejas, estrategia</a:t>
            </a:r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055F7624-41F7-4311-BAAF-94C0842E6916}"/>
              </a:ext>
            </a:extLst>
          </p:cNvPr>
          <p:cNvSpPr/>
          <p:nvPr/>
        </p:nvSpPr>
        <p:spPr>
          <a:xfrm>
            <a:off x="6223000" y="4953000"/>
            <a:ext cx="5461000" cy="533400"/>
          </a:xfrm>
          <a:prstGeom prst="roundRect">
            <a:avLst/>
          </a:prstGeom>
          <a:solidFill>
            <a:srgbClr val="1B2838"/>
          </a:solidFill>
          <a:ln w="12700" cap="flat" cmpd="sng" algn="ctr">
            <a:solidFill>
              <a:srgbClr val="4ECD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28779DEC-1E72-4F23-893C-4637CD6253FD}"/>
              </a:ext>
            </a:extLst>
          </p:cNvPr>
          <p:cNvSpPr/>
          <p:nvPr/>
        </p:nvSpPr>
        <p:spPr>
          <a:xfrm>
            <a:off x="6375400" y="5105400"/>
            <a:ext cx="228600" cy="228600"/>
          </a:xfrm>
          <a:prstGeom prst="ellipse">
            <a:avLst/>
          </a:prstGeom>
          <a:solidFill>
            <a:srgbClr val="4ECDC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E5EB32C3-ACAC-4D27-A384-E73D99C81B8A}"/>
              </a:ext>
            </a:extLst>
          </p:cNvPr>
          <p:cNvSpPr txBox="1"/>
          <p:nvPr/>
        </p:nvSpPr>
        <p:spPr>
          <a:xfrm>
            <a:off x="6705600" y="5016500"/>
            <a:ext cx="1143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CO" sz="1500" b="1">
                <a:solidFill>
                  <a:srgbClr val="FFFFFF"/>
                </a:solidFill>
              </a:rPr>
              <a:t>Sonnet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92C8AAB6-AC5F-45E6-A064-8A1DCA411F8B}"/>
              </a:ext>
            </a:extLst>
          </p:cNvPr>
          <p:cNvSpPr txBox="1"/>
          <p:nvPr/>
        </p:nvSpPr>
        <p:spPr>
          <a:xfrm>
            <a:off x="7848600" y="5016500"/>
            <a:ext cx="254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CO" sz="1500">
                <a:solidFill>
                  <a:srgbClr val="4ECDC4"/>
                </a:solidFill>
              </a:rPr>
              <a:t>→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5EF96F3C-7171-40C6-9CAB-53E51239702F}"/>
              </a:ext>
            </a:extLst>
          </p:cNvPr>
          <p:cNvSpPr txBox="1"/>
          <p:nvPr/>
        </p:nvSpPr>
        <p:spPr>
          <a:xfrm>
            <a:off x="8153400" y="5016500"/>
            <a:ext cx="33655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CO" sz="1400">
                <a:solidFill>
                  <a:srgbClr val="C8D6E5"/>
                </a:solidFill>
              </a:rPr>
              <a:t>Balance calidad / coste</a:t>
            </a:r>
          </a:p>
        </p:txBody>
      </p:sp>
      <p:sp>
        <p:nvSpPr>
          <p:cNvPr id="38" name="Rectángulo: esquinas redondeadas 37">
            <a:extLst>
              <a:ext uri="{FF2B5EF4-FFF2-40B4-BE49-F238E27FC236}">
                <a16:creationId xmlns:a16="http://schemas.microsoft.com/office/drawing/2014/main" id="{4A853769-0681-41C0-847F-9E3755F4076C}"/>
              </a:ext>
            </a:extLst>
          </p:cNvPr>
          <p:cNvSpPr/>
          <p:nvPr/>
        </p:nvSpPr>
        <p:spPr>
          <a:xfrm>
            <a:off x="6223000" y="5588000"/>
            <a:ext cx="5461000" cy="533400"/>
          </a:xfrm>
          <a:prstGeom prst="roundRect">
            <a:avLst/>
          </a:prstGeom>
          <a:solidFill>
            <a:srgbClr val="1B2838"/>
          </a:solidFill>
          <a:ln w="12700" cap="flat" cmpd="sng" algn="ctr">
            <a:solidFill>
              <a:srgbClr val="FFD9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D592ADE2-1B50-4862-BE11-76DF5D567083}"/>
              </a:ext>
            </a:extLst>
          </p:cNvPr>
          <p:cNvSpPr/>
          <p:nvPr/>
        </p:nvSpPr>
        <p:spPr>
          <a:xfrm>
            <a:off x="6375400" y="5740400"/>
            <a:ext cx="228600" cy="228600"/>
          </a:xfrm>
          <a:prstGeom prst="ellipse">
            <a:avLst/>
          </a:prstGeom>
          <a:solidFill>
            <a:srgbClr val="FFD9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BF736BBF-2F2B-45F2-AB4C-47C6C96EA0BE}"/>
              </a:ext>
            </a:extLst>
          </p:cNvPr>
          <p:cNvSpPr txBox="1"/>
          <p:nvPr/>
        </p:nvSpPr>
        <p:spPr>
          <a:xfrm>
            <a:off x="6705600" y="5651500"/>
            <a:ext cx="1143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CO" sz="1500" b="1">
                <a:solidFill>
                  <a:srgbClr val="FFFFFF"/>
                </a:solidFill>
              </a:rPr>
              <a:t>Haiku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243295D0-B8CB-44EC-B52E-A44CB07AC1AF}"/>
              </a:ext>
            </a:extLst>
          </p:cNvPr>
          <p:cNvSpPr txBox="1"/>
          <p:nvPr/>
        </p:nvSpPr>
        <p:spPr>
          <a:xfrm>
            <a:off x="7848600" y="5651500"/>
            <a:ext cx="2540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CO" sz="1500">
                <a:solidFill>
                  <a:srgbClr val="FFD93D"/>
                </a:solidFill>
              </a:rPr>
              <a:t>→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9E257008-9BB3-481B-955D-09D366BD9CA7}"/>
              </a:ext>
            </a:extLst>
          </p:cNvPr>
          <p:cNvSpPr txBox="1"/>
          <p:nvPr/>
        </p:nvSpPr>
        <p:spPr>
          <a:xfrm>
            <a:off x="8153400" y="5651500"/>
            <a:ext cx="33655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s-CO" sz="1400">
                <a:solidFill>
                  <a:srgbClr val="C8D6E5"/>
                </a:solidFill>
              </a:rPr>
              <a:t>Alta velocidad, bajo coste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AC590593-A54E-484E-AC8D-C51100D4C323}"/>
              </a:ext>
            </a:extLst>
          </p:cNvPr>
          <p:cNvSpPr txBox="1"/>
          <p:nvPr/>
        </p:nvSpPr>
        <p:spPr>
          <a:xfrm>
            <a:off x="6223000" y="6197600"/>
            <a:ext cx="546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8EEEDD"/>
                </a:solidFill>
              </a:rPr>
              <a:t>💡 Batch API: -50%  •  Prompt Caching: -90% en input</a:t>
            </a:r>
            <a:endParaRPr lang="es-CO" sz="1400">
              <a:solidFill>
                <a:srgbClr val="8EEEDD"/>
              </a:solidFill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C68C83FA-84C6-4AA2-B737-7B226E695EAA}"/>
              </a:ext>
            </a:extLst>
          </p:cNvPr>
          <p:cNvSpPr/>
          <p:nvPr/>
        </p:nvSpPr>
        <p:spPr>
          <a:xfrm>
            <a:off x="5943600" y="1778000"/>
            <a:ext cx="19050" cy="4699000"/>
          </a:xfrm>
          <a:prstGeom prst="rect">
            <a:avLst/>
          </a:prstGeom>
          <a:solidFill>
            <a:srgbClr val="1E3A5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pic>
        <p:nvPicPr>
          <p:cNvPr id="46" name="Graphic 4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68500" y="2311400"/>
            <a:ext cx="355600" cy="355600"/>
          </a:xfrm>
          <a:prstGeom prst="rect">
            <a:avLst/>
          </a:prstGeom>
        </p:spPr>
      </p:pic>
      <p:pic>
        <p:nvPicPr>
          <p:cNvPr id="47" name="Graphic 4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81500" y="2311400"/>
            <a:ext cx="355600" cy="355600"/>
          </a:xfrm>
          <a:prstGeom prst="rect">
            <a:avLst/>
          </a:prstGeom>
        </p:spPr>
      </p:pic>
      <p:pic>
        <p:nvPicPr>
          <p:cNvPr id="48" name="Graphic 4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68500" y="3225800"/>
            <a:ext cx="355600" cy="355600"/>
          </a:xfrm>
          <a:prstGeom prst="rect">
            <a:avLst/>
          </a:prstGeom>
        </p:spPr>
      </p:pic>
      <p:pic>
        <p:nvPicPr>
          <p:cNvPr id="49" name="Graphic 4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1500" y="3225800"/>
            <a:ext cx="355600" cy="355600"/>
          </a:xfrm>
          <a:prstGeom prst="rect">
            <a:avLst/>
          </a:prstGeom>
        </p:spPr>
      </p:pic>
      <p:pic>
        <p:nvPicPr>
          <p:cNvPr id="50" name="Graphic 5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68500" y="4140200"/>
            <a:ext cx="355600" cy="355600"/>
          </a:xfrm>
          <a:prstGeom prst="rect">
            <a:avLst/>
          </a:prstGeom>
        </p:spPr>
      </p:pic>
      <p:pic>
        <p:nvPicPr>
          <p:cNvPr id="51" name="Graphic 5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81500" y="41402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3265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5AF382-8719-6340-052E-C2B396913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Buenas Prácticas con Claude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13D23663-21BD-4422-AD9E-4956408904DB}"/>
              </a:ext>
            </a:extLst>
          </p:cNvPr>
          <p:cNvSpPr/>
          <p:nvPr/>
        </p:nvSpPr>
        <p:spPr>
          <a:xfrm>
            <a:off x="635000" y="1881188"/>
            <a:ext cx="3492500" cy="16510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00D4A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1B2838"/>
              </a:solidFill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011B75DC-3B48-4806-B0BC-A8BC8B96F41D}"/>
              </a:ext>
            </a:extLst>
          </p:cNvPr>
          <p:cNvSpPr/>
          <p:nvPr/>
        </p:nvSpPr>
        <p:spPr>
          <a:xfrm>
            <a:off x="762000" y="2008188"/>
            <a:ext cx="444500" cy="444500"/>
          </a:xfrm>
          <a:prstGeom prst="ellipse">
            <a:avLst/>
          </a:prstGeom>
          <a:solidFill>
            <a:srgbClr val="00D4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16BA2FE-E3F2-43F7-AC5D-5B548479BF69}"/>
              </a:ext>
            </a:extLst>
          </p:cNvPr>
          <p:cNvSpPr txBox="1"/>
          <p:nvPr/>
        </p:nvSpPr>
        <p:spPr>
          <a:xfrm>
            <a:off x="1333500" y="2033588"/>
            <a:ext cx="2603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600" b="1">
                <a:solidFill>
                  <a:srgbClr val="F0F0F0"/>
                </a:solidFill>
              </a:rPr>
              <a:t>System Prompts Claros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254A0E8-76D5-4B6F-9E34-7361A152BED4}"/>
              </a:ext>
            </a:extLst>
          </p:cNvPr>
          <p:cNvSpPr txBox="1"/>
          <p:nvPr/>
        </p:nvSpPr>
        <p:spPr>
          <a:xfrm>
            <a:off x="825500" y="2643188"/>
            <a:ext cx="31115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>
                <a:solidFill>
                  <a:srgbClr val="C8D6E5"/>
                </a:solidFill>
              </a:rPr>
              <a:t>Define el rol, contexto y restricciones del agente</a:t>
            </a:r>
            <a:endParaRPr lang="es-CO" sz="1400">
              <a:solidFill>
                <a:srgbClr val="C8D6E5"/>
              </a:solidFill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F78F8424-33FA-48B9-A7D4-AD8E01142582}"/>
              </a:ext>
            </a:extLst>
          </p:cNvPr>
          <p:cNvSpPr/>
          <p:nvPr/>
        </p:nvSpPr>
        <p:spPr>
          <a:xfrm>
            <a:off x="4445000" y="1881188"/>
            <a:ext cx="3492500" cy="16510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7B68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1B2838"/>
              </a:solidFill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E0297061-1F7E-4CFB-B9EF-1DD86DA2BF8A}"/>
              </a:ext>
            </a:extLst>
          </p:cNvPr>
          <p:cNvSpPr/>
          <p:nvPr/>
        </p:nvSpPr>
        <p:spPr>
          <a:xfrm>
            <a:off x="4572000" y="2008188"/>
            <a:ext cx="444500" cy="444500"/>
          </a:xfrm>
          <a:prstGeom prst="ellipse">
            <a:avLst/>
          </a:prstGeom>
          <a:solidFill>
            <a:srgbClr val="7B68E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64BED71-4AB6-4046-8E42-A14C94C737DC}"/>
              </a:ext>
            </a:extLst>
          </p:cNvPr>
          <p:cNvSpPr txBox="1"/>
          <p:nvPr/>
        </p:nvSpPr>
        <p:spPr>
          <a:xfrm>
            <a:off x="5143500" y="2033588"/>
            <a:ext cx="2603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600" b="1">
                <a:solidFill>
                  <a:srgbClr val="F0F0F0"/>
                </a:solidFill>
              </a:rPr>
              <a:t>Tool Use Estructurado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AD986A9-78BE-4673-BCC1-BC19045B6FB7}"/>
              </a:ext>
            </a:extLst>
          </p:cNvPr>
          <p:cNvSpPr txBox="1"/>
          <p:nvPr/>
        </p:nvSpPr>
        <p:spPr>
          <a:xfrm>
            <a:off x="4635500" y="2643188"/>
            <a:ext cx="31115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>
                <a:solidFill>
                  <a:srgbClr val="C8D6E5"/>
                </a:solidFill>
              </a:rPr>
              <a:t>Usa JSON schemas para llamadas a herramientas</a:t>
            </a:r>
            <a:endParaRPr lang="es-CO" sz="1400">
              <a:solidFill>
                <a:srgbClr val="C8D6E5"/>
              </a:solidFill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126B266E-38D1-4337-B34D-96CB71062960}"/>
              </a:ext>
            </a:extLst>
          </p:cNvPr>
          <p:cNvSpPr/>
          <p:nvPr/>
        </p:nvSpPr>
        <p:spPr>
          <a:xfrm>
            <a:off x="8255000" y="1881188"/>
            <a:ext cx="3492500" cy="16510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4ECD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1B2838"/>
              </a:solidFill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7CD2BC0A-8511-4443-88C0-19AAA52D6AE2}"/>
              </a:ext>
            </a:extLst>
          </p:cNvPr>
          <p:cNvSpPr/>
          <p:nvPr/>
        </p:nvSpPr>
        <p:spPr>
          <a:xfrm>
            <a:off x="8382000" y="2008188"/>
            <a:ext cx="444500" cy="444500"/>
          </a:xfrm>
          <a:prstGeom prst="ellipse">
            <a:avLst/>
          </a:prstGeom>
          <a:solidFill>
            <a:srgbClr val="4ECDC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0655165-ABED-48E0-A031-9111ED32DF12}"/>
              </a:ext>
            </a:extLst>
          </p:cNvPr>
          <p:cNvSpPr txBox="1"/>
          <p:nvPr/>
        </p:nvSpPr>
        <p:spPr>
          <a:xfrm>
            <a:off x="8953500" y="2033588"/>
            <a:ext cx="2603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600" b="1">
                <a:solidFill>
                  <a:srgbClr val="F0F0F0"/>
                </a:solidFill>
              </a:rPr>
              <a:t>Prompt Chaining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677A62A-FE31-4825-8AE7-C06D189E60DD}"/>
              </a:ext>
            </a:extLst>
          </p:cNvPr>
          <p:cNvSpPr txBox="1"/>
          <p:nvPr/>
        </p:nvSpPr>
        <p:spPr>
          <a:xfrm>
            <a:off x="8445500" y="2643188"/>
            <a:ext cx="31115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>
                <a:solidFill>
                  <a:srgbClr val="C8D6E5"/>
                </a:solidFill>
              </a:rPr>
              <a:t>Divide tareas complejas en pasos encadenados</a:t>
            </a:r>
            <a:endParaRPr lang="es-CO" sz="1400">
              <a:solidFill>
                <a:srgbClr val="C8D6E5"/>
              </a:solidFill>
            </a:endParaRP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574F4A99-078C-4B94-8E2C-969165AEDF69}"/>
              </a:ext>
            </a:extLst>
          </p:cNvPr>
          <p:cNvSpPr/>
          <p:nvPr/>
        </p:nvSpPr>
        <p:spPr>
          <a:xfrm>
            <a:off x="635000" y="3786188"/>
            <a:ext cx="3492500" cy="16510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FFD9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1B2838"/>
              </a:solidFill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CA948E8F-D251-4083-81EB-202BBCCE89E4}"/>
              </a:ext>
            </a:extLst>
          </p:cNvPr>
          <p:cNvSpPr/>
          <p:nvPr/>
        </p:nvSpPr>
        <p:spPr>
          <a:xfrm>
            <a:off x="762000" y="3913188"/>
            <a:ext cx="444500" cy="444500"/>
          </a:xfrm>
          <a:prstGeom prst="ellipse">
            <a:avLst/>
          </a:prstGeom>
          <a:solidFill>
            <a:srgbClr val="FFD9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AEFE1CB-C65C-4A45-A65A-F83C6F62D019}"/>
              </a:ext>
            </a:extLst>
          </p:cNvPr>
          <p:cNvSpPr txBox="1"/>
          <p:nvPr/>
        </p:nvSpPr>
        <p:spPr>
          <a:xfrm>
            <a:off x="1333500" y="3938588"/>
            <a:ext cx="2603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600" b="1">
                <a:solidFill>
                  <a:srgbClr val="F0F0F0"/>
                </a:solidFill>
              </a:rPr>
              <a:t>Manejo de Errores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EBAC8F9-8729-4C14-B91F-327927CE0FAC}"/>
              </a:ext>
            </a:extLst>
          </p:cNvPr>
          <p:cNvSpPr txBox="1"/>
          <p:nvPr/>
        </p:nvSpPr>
        <p:spPr>
          <a:xfrm>
            <a:off x="825500" y="4548188"/>
            <a:ext cx="31115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>
                <a:solidFill>
                  <a:srgbClr val="C8D6E5"/>
                </a:solidFill>
              </a:rPr>
              <a:t>Implementa reintentos y fallbacks gracefully</a:t>
            </a:r>
            <a:endParaRPr lang="es-CO" sz="1400">
              <a:solidFill>
                <a:srgbClr val="C8D6E5"/>
              </a:solidFill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D3284413-3A2B-41DF-A79C-DEA47F8F6BAF}"/>
              </a:ext>
            </a:extLst>
          </p:cNvPr>
          <p:cNvSpPr/>
          <p:nvPr/>
        </p:nvSpPr>
        <p:spPr>
          <a:xfrm>
            <a:off x="4445000" y="3786188"/>
            <a:ext cx="3492500" cy="16510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FF6B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1B2838"/>
              </a:solidFill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454BDB83-7671-48F4-BE4E-EDD091781071}"/>
              </a:ext>
            </a:extLst>
          </p:cNvPr>
          <p:cNvSpPr/>
          <p:nvPr/>
        </p:nvSpPr>
        <p:spPr>
          <a:xfrm>
            <a:off x="4572000" y="3913188"/>
            <a:ext cx="444500" cy="444500"/>
          </a:xfrm>
          <a:prstGeom prst="ellipse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47E0F370-2399-49F5-AAE0-E462C0CD103D}"/>
              </a:ext>
            </a:extLst>
          </p:cNvPr>
          <p:cNvSpPr txBox="1"/>
          <p:nvPr/>
        </p:nvSpPr>
        <p:spPr>
          <a:xfrm>
            <a:off x="5143500" y="3938588"/>
            <a:ext cx="2603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600" b="1">
                <a:solidFill>
                  <a:srgbClr val="F0F0F0"/>
                </a:solidFill>
              </a:rPr>
              <a:t>Temperatura Baja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18B5C55-4FA8-4A0D-A333-9F2D3022A0C2}"/>
              </a:ext>
            </a:extLst>
          </p:cNvPr>
          <p:cNvSpPr txBox="1"/>
          <p:nvPr/>
        </p:nvSpPr>
        <p:spPr>
          <a:xfrm>
            <a:off x="4635500" y="4548188"/>
            <a:ext cx="31115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400">
                <a:solidFill>
                  <a:srgbClr val="C8D6E5"/>
                </a:solidFill>
              </a:rPr>
              <a:t>Usa temperature=0 para outputs deterministas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FCABD244-9F4D-41D0-8404-69CF9057EC42}"/>
              </a:ext>
            </a:extLst>
          </p:cNvPr>
          <p:cNvSpPr/>
          <p:nvPr/>
        </p:nvSpPr>
        <p:spPr>
          <a:xfrm>
            <a:off x="8255000" y="3786188"/>
            <a:ext cx="3492500" cy="16510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6C5CE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1B2838"/>
              </a:solidFill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93200CA2-0E69-4597-8C27-1FAD242A9D04}"/>
              </a:ext>
            </a:extLst>
          </p:cNvPr>
          <p:cNvSpPr/>
          <p:nvPr/>
        </p:nvSpPr>
        <p:spPr>
          <a:xfrm>
            <a:off x="8382000" y="3913188"/>
            <a:ext cx="444500" cy="444500"/>
          </a:xfrm>
          <a:prstGeom prst="ellipse">
            <a:avLst/>
          </a:prstGeom>
          <a:solidFill>
            <a:srgbClr val="6C5CE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BE7815D-65C4-4915-89E4-399E2C6143ED}"/>
              </a:ext>
            </a:extLst>
          </p:cNvPr>
          <p:cNvSpPr txBox="1"/>
          <p:nvPr/>
        </p:nvSpPr>
        <p:spPr>
          <a:xfrm>
            <a:off x="8953500" y="3938588"/>
            <a:ext cx="2603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600" b="1">
                <a:solidFill>
                  <a:srgbClr val="F0F0F0"/>
                </a:solidFill>
              </a:rPr>
              <a:t>Evaluación Continua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0DAC6AC-A100-481D-BD07-F9EC932B890C}"/>
              </a:ext>
            </a:extLst>
          </p:cNvPr>
          <p:cNvSpPr txBox="1"/>
          <p:nvPr/>
        </p:nvSpPr>
        <p:spPr>
          <a:xfrm>
            <a:off x="8445500" y="4548188"/>
            <a:ext cx="31115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400">
                <a:solidFill>
                  <a:srgbClr val="C8D6E5"/>
                </a:solidFill>
              </a:rPr>
              <a:t>Mide calidad de outputs con métricas claras</a:t>
            </a:r>
            <a:endParaRPr lang="es-CO" sz="1400">
              <a:solidFill>
                <a:srgbClr val="C8D6E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4110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6AB11A85-CBDF-4A6F-AA4E-50B93E3F9750}"/>
              </a:ext>
            </a:extLst>
          </p:cNvPr>
          <p:cNvSpPr/>
          <p:nvPr/>
        </p:nvSpPr>
        <p:spPr>
          <a:xfrm>
            <a:off x="6057900" y="1828800"/>
            <a:ext cx="38100" cy="4356100"/>
          </a:xfrm>
          <a:prstGeom prst="rect">
            <a:avLst/>
          </a:prstGeom>
          <a:solidFill>
            <a:srgbClr val="00D4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F83EF3-5A20-5D9B-DDC2-1F3347455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CO" sz="3200" b="1" dirty="0">
                <a:solidFill>
                  <a:srgbClr val="00D4AA"/>
                </a:solidFill>
              </a:rPr>
              <a:t>Streamlit</a:t>
            </a:r>
            <a:r>
              <a:rPr lang="es-CO" sz="3200" b="0" dirty="0">
                <a:solidFill>
                  <a:srgbClr val="F0F0F0"/>
                </a:solidFill>
              </a:rPr>
              <a:t> como Frontend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C0732F-3CCB-7CB2-FBB0-EDD8289141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0100" y="2734611"/>
            <a:ext cx="5181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000" b="1" dirty="0">
                <a:solidFill>
                  <a:srgbClr val="00D4AA"/>
                </a:solidFill>
              </a:rPr>
              <a:t>¿Por qué Streamlit?</a:t>
            </a:r>
          </a:p>
          <a:p>
            <a:pPr marL="342900" indent="-342900" algn="just">
              <a:spcBef>
                <a:spcPts val="160"/>
              </a:spcBef>
              <a:buFont typeface="Arial"/>
              <a:buChar char="▸"/>
            </a:pPr>
            <a:r>
              <a:rPr lang="es-ES" sz="2000" dirty="0">
                <a:solidFill>
                  <a:srgbClr val="F0F0F0"/>
                </a:solidFill>
              </a:rPr>
              <a:t>Prototipado rápido en Python</a:t>
            </a:r>
          </a:p>
          <a:p>
            <a:pPr marL="342900" indent="-342900" algn="just">
              <a:spcBef>
                <a:spcPts val="160"/>
              </a:spcBef>
              <a:buFont typeface="Arial"/>
              <a:buChar char="▸"/>
            </a:pPr>
            <a:r>
              <a:rPr lang="es-ES" sz="2000" dirty="0">
                <a:solidFill>
                  <a:srgbClr val="F0F0F0"/>
                </a:solidFill>
              </a:rPr>
              <a:t>Sin necesidad de HTML/CSS/JS</a:t>
            </a:r>
          </a:p>
          <a:p>
            <a:pPr marL="342900" indent="-342900" algn="just">
              <a:spcBef>
                <a:spcPts val="160"/>
              </a:spcBef>
              <a:buFont typeface="Arial"/>
              <a:buChar char="▸"/>
            </a:pPr>
            <a:r>
              <a:rPr lang="es-ES" sz="2000" dirty="0">
                <a:solidFill>
                  <a:srgbClr val="F0F0F0"/>
                </a:solidFill>
              </a:rPr>
              <a:t>Componentes interactivos nativos</a:t>
            </a:r>
          </a:p>
          <a:p>
            <a:pPr marL="342900" indent="-342900" algn="just">
              <a:spcBef>
                <a:spcPts val="160"/>
              </a:spcBef>
              <a:buFont typeface="Arial"/>
              <a:buChar char="▸"/>
            </a:pPr>
            <a:r>
              <a:rPr lang="es-ES" sz="2000" dirty="0">
                <a:solidFill>
                  <a:srgbClr val="F0F0F0"/>
                </a:solidFill>
              </a:rPr>
              <a:t>Chat UI con </a:t>
            </a:r>
            <a:r>
              <a:rPr lang="es-ES" sz="2000" b="1" dirty="0">
                <a:solidFill>
                  <a:srgbClr val="FFD93D"/>
                </a:solidFill>
              </a:rPr>
              <a:t>st.chat_message</a:t>
            </a:r>
          </a:p>
          <a:p>
            <a:pPr marL="342900" indent="-342900" algn="just">
              <a:spcBef>
                <a:spcPts val="160"/>
              </a:spcBef>
              <a:buFont typeface="Arial"/>
              <a:buChar char="▸"/>
            </a:pPr>
            <a:r>
              <a:rPr lang="es-ES" sz="2000" dirty="0">
                <a:solidFill>
                  <a:srgbClr val="F0F0F0"/>
                </a:solidFill>
              </a:rPr>
              <a:t>Despliegue fácil en la nube</a:t>
            </a:r>
          </a:p>
          <a:p>
            <a:pPr marL="342900" indent="-342900" algn="just">
              <a:spcBef>
                <a:spcPts val="160"/>
              </a:spcBef>
              <a:buFont typeface="Arial"/>
              <a:buChar char="▸"/>
            </a:pPr>
            <a:r>
              <a:rPr lang="es-ES" sz="2000" dirty="0">
                <a:solidFill>
                  <a:srgbClr val="F0F0F0"/>
                </a:solidFill>
              </a:rPr>
              <a:t>Ideal para demos de agentes IA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E2E597C-9AB2-CBCC-05D6-655D9CDC4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0302" y="2734611"/>
            <a:ext cx="518160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000" b="1" dirty="0">
                <a:solidFill>
                  <a:srgbClr val="7B68EE"/>
                </a:solidFill>
              </a:rPr>
              <a:t>En el Proyecto</a:t>
            </a:r>
          </a:p>
          <a:p>
            <a:pPr marL="342900" indent="-342900" algn="just">
              <a:spcBef>
                <a:spcPts val="160"/>
              </a:spcBef>
              <a:buFont typeface="Arial"/>
              <a:buChar char="▸"/>
            </a:pPr>
            <a:r>
              <a:rPr lang="es-ES" sz="2000" dirty="0">
                <a:solidFill>
                  <a:srgbClr val="F0F0F0"/>
                </a:solidFill>
              </a:rPr>
              <a:t>Interfaz de chat con los agentes de marketing</a:t>
            </a:r>
          </a:p>
          <a:p>
            <a:pPr marL="342900" indent="-342900" algn="just">
              <a:spcBef>
                <a:spcPts val="160"/>
              </a:spcBef>
              <a:buFont typeface="Arial"/>
              <a:buChar char="▸"/>
            </a:pPr>
            <a:r>
              <a:rPr lang="es-ES" sz="2000" dirty="0">
                <a:solidFill>
                  <a:srgbClr val="F0F0F0"/>
                </a:solidFill>
              </a:rPr>
              <a:t>Visualización en tiempo real de respuestas</a:t>
            </a:r>
          </a:p>
          <a:p>
            <a:pPr marL="342900" indent="-342900" algn="just">
              <a:spcBef>
                <a:spcPts val="160"/>
              </a:spcBef>
              <a:buFont typeface="Arial"/>
              <a:buChar char="▸"/>
            </a:pPr>
            <a:r>
              <a:rPr lang="es-ES" sz="2000" dirty="0">
                <a:solidFill>
                  <a:srgbClr val="F0F0F0"/>
                </a:solidFill>
              </a:rPr>
              <a:t>Panel lateral con configuración</a:t>
            </a:r>
          </a:p>
          <a:p>
            <a:pPr marL="342900" indent="-342900" algn="just">
              <a:spcBef>
                <a:spcPts val="160"/>
              </a:spcBef>
              <a:buFont typeface="Arial"/>
              <a:buChar char="▸"/>
            </a:pPr>
            <a:r>
              <a:rPr lang="es-ES" sz="2000" dirty="0">
                <a:solidFill>
                  <a:srgbClr val="F0F0F0"/>
                </a:solidFill>
              </a:rPr>
              <a:t>Historial de conversaciones</a:t>
            </a:r>
          </a:p>
          <a:p>
            <a:pPr marL="342900" indent="-342900" algn="just">
              <a:spcBef>
                <a:spcPts val="160"/>
              </a:spcBef>
              <a:buFont typeface="Arial"/>
              <a:buChar char="▸"/>
            </a:pPr>
            <a:r>
              <a:rPr lang="es-ES" sz="2000" dirty="0">
                <a:solidFill>
                  <a:srgbClr val="F0F0F0"/>
                </a:solidFill>
              </a:rPr>
              <a:t>Feedback del usuario integrado</a:t>
            </a:r>
          </a:p>
          <a:p>
            <a:pPr marL="342900" indent="-342900" algn="just">
              <a:spcBef>
                <a:spcPts val="160"/>
              </a:spcBef>
              <a:buFont typeface="Arial"/>
              <a:buChar char="▸"/>
            </a:pPr>
            <a:r>
              <a:rPr lang="es-ES" sz="2000" dirty="0">
                <a:solidFill>
                  <a:srgbClr val="F0F0F0"/>
                </a:solidFill>
              </a:rPr>
              <a:t>Integración directa con </a:t>
            </a:r>
            <a:r>
              <a:rPr lang="es-ES" sz="2000" b="1" dirty="0">
                <a:solidFill>
                  <a:srgbClr val="FFD93D"/>
                </a:solidFill>
              </a:rPr>
              <a:t>LangGraph</a:t>
            </a:r>
          </a:p>
        </p:txBody>
      </p:sp>
      <p:pic>
        <p:nvPicPr>
          <p:cNvPr id="6" name="Graphic 6" descr="Icono rayo para columna ¿Por qué Streamlit?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48753" y="1358435"/>
            <a:ext cx="1228164" cy="1228164"/>
          </a:xfrm>
          <a:prstGeom prst="rect">
            <a:avLst/>
          </a:prstGeom>
        </p:spPr>
      </p:pic>
      <p:pic>
        <p:nvPicPr>
          <p:cNvPr id="7" name="Graphic 7" descr="Icono cohete para columna En el Proyect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2196" y="1344987"/>
            <a:ext cx="1241612" cy="124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801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63B2F7-4DF8-2571-6E2F-BC35C66AF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Arquitectura del Proyecto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EB872C44-BC28-429E-8939-2A079E758A79}"/>
              </a:ext>
            </a:extLst>
          </p:cNvPr>
          <p:cNvSpPr/>
          <p:nvPr/>
        </p:nvSpPr>
        <p:spPr>
          <a:xfrm>
            <a:off x="2540000" y="1817688"/>
            <a:ext cx="7112000" cy="1270000"/>
          </a:xfrm>
          <a:prstGeom prst="roundRect">
            <a:avLst/>
          </a:prstGeom>
          <a:solidFill>
            <a:srgbClr val="1B2838"/>
          </a:solidFill>
          <a:ln w="25400" cap="flat" cmpd="sng" algn="ctr">
            <a:solidFill>
              <a:srgbClr val="4ECD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1B2838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8C60804-F924-482E-A4AA-55CD1B2E46E3}"/>
              </a:ext>
            </a:extLst>
          </p:cNvPr>
          <p:cNvSpPr txBox="1"/>
          <p:nvPr/>
        </p:nvSpPr>
        <p:spPr>
          <a:xfrm>
            <a:off x="416859" y="2273519"/>
            <a:ext cx="177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b="1" dirty="0">
                <a:solidFill>
                  <a:srgbClr val="4ECDC4"/>
                </a:solidFill>
              </a:rPr>
              <a:t>FRONTEND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1582D90-B4BF-4D36-9378-D3BF9CDB2A4C}"/>
              </a:ext>
            </a:extLst>
          </p:cNvPr>
          <p:cNvSpPr txBox="1"/>
          <p:nvPr/>
        </p:nvSpPr>
        <p:spPr>
          <a:xfrm>
            <a:off x="2794000" y="2008188"/>
            <a:ext cx="6604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dirty="0" err="1">
                <a:solidFill>
                  <a:srgbClr val="F0F0F0"/>
                </a:solidFill>
              </a:rPr>
              <a:t>Streamlit</a:t>
            </a:r>
            <a:r>
              <a:rPr lang="en-US" dirty="0">
                <a:solidFill>
                  <a:srgbClr val="F0F0F0"/>
                </a:solidFill>
              </a:rPr>
              <a:t> UI
Chat Interface · Config Panel · </a:t>
            </a:r>
            <a:r>
              <a:rPr lang="en-US" dirty="0" err="1">
                <a:solidFill>
                  <a:srgbClr val="F0F0F0"/>
                </a:solidFill>
              </a:rPr>
              <a:t>Visualización</a:t>
            </a:r>
            <a:endParaRPr lang="es-CO" dirty="0">
              <a:solidFill>
                <a:srgbClr val="F0F0F0"/>
              </a:solidFill>
            </a:endParaRPr>
          </a:p>
        </p:txBody>
      </p:sp>
      <p:sp>
        <p:nvSpPr>
          <p:cNvPr id="6" name="Flecha: hacia abajo 5">
            <a:extLst>
              <a:ext uri="{FF2B5EF4-FFF2-40B4-BE49-F238E27FC236}">
                <a16:creationId xmlns:a16="http://schemas.microsoft.com/office/drawing/2014/main" id="{023F01E0-79ED-45AF-A63F-62537D3AA2ED}"/>
              </a:ext>
            </a:extLst>
          </p:cNvPr>
          <p:cNvSpPr/>
          <p:nvPr/>
        </p:nvSpPr>
        <p:spPr>
          <a:xfrm>
            <a:off x="5778500" y="3125788"/>
            <a:ext cx="635000" cy="317500"/>
          </a:xfrm>
          <a:prstGeom prst="downArrow">
            <a:avLst/>
          </a:prstGeom>
          <a:solidFill>
            <a:srgbClr val="C8D6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74BAA6CB-FB47-4CFC-B147-FD0CD22F40B0}"/>
              </a:ext>
            </a:extLst>
          </p:cNvPr>
          <p:cNvSpPr/>
          <p:nvPr/>
        </p:nvSpPr>
        <p:spPr>
          <a:xfrm>
            <a:off x="2540000" y="3405188"/>
            <a:ext cx="7112000" cy="1270000"/>
          </a:xfrm>
          <a:prstGeom prst="roundRect">
            <a:avLst/>
          </a:prstGeom>
          <a:solidFill>
            <a:srgbClr val="1B2838"/>
          </a:solidFill>
          <a:ln w="25400" cap="flat" cmpd="sng" algn="ctr">
            <a:solidFill>
              <a:srgbClr val="7B68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1B2838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8BA3FD3-ACA1-42FD-B8EA-D89F263D6BEA}"/>
              </a:ext>
            </a:extLst>
          </p:cNvPr>
          <p:cNvSpPr txBox="1"/>
          <p:nvPr/>
        </p:nvSpPr>
        <p:spPr>
          <a:xfrm>
            <a:off x="416859" y="3849688"/>
            <a:ext cx="1996141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b="1" dirty="0">
                <a:solidFill>
                  <a:srgbClr val="7B68EE"/>
                </a:solidFill>
              </a:rPr>
              <a:t>ORQUESTACIÓN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86F1777-EC47-466C-B27E-71E2C1A8B750}"/>
              </a:ext>
            </a:extLst>
          </p:cNvPr>
          <p:cNvSpPr txBox="1"/>
          <p:nvPr/>
        </p:nvSpPr>
        <p:spPr>
          <a:xfrm>
            <a:off x="2794000" y="3595688"/>
            <a:ext cx="6604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dirty="0" err="1">
                <a:solidFill>
                  <a:srgbClr val="F0F0F0"/>
                </a:solidFill>
              </a:rPr>
              <a:t>LangGraph</a:t>
            </a:r>
            <a:r>
              <a:rPr lang="en-US" dirty="0">
                <a:solidFill>
                  <a:srgbClr val="F0F0F0"/>
                </a:solidFill>
              </a:rPr>
              <a:t> </a:t>
            </a:r>
            <a:r>
              <a:rPr lang="en-US" dirty="0" err="1">
                <a:solidFill>
                  <a:srgbClr val="F0F0F0"/>
                </a:solidFill>
              </a:rPr>
              <a:t>StateGraph</a:t>
            </a:r>
            <a:r>
              <a:rPr lang="en-US" dirty="0">
                <a:solidFill>
                  <a:srgbClr val="F0F0F0"/>
                </a:solidFill>
              </a:rPr>
              <a:t>
Supervisor · Routing · State Management</a:t>
            </a:r>
            <a:endParaRPr lang="es-CO" dirty="0">
              <a:solidFill>
                <a:srgbClr val="F0F0F0"/>
              </a:solidFill>
            </a:endParaRPr>
          </a:p>
        </p:txBody>
      </p:sp>
      <p:sp>
        <p:nvSpPr>
          <p:cNvPr id="10" name="Flecha: hacia abajo 9">
            <a:extLst>
              <a:ext uri="{FF2B5EF4-FFF2-40B4-BE49-F238E27FC236}">
                <a16:creationId xmlns:a16="http://schemas.microsoft.com/office/drawing/2014/main" id="{72B1BDA6-5A26-4F1C-A25C-1ABDE75DA135}"/>
              </a:ext>
            </a:extLst>
          </p:cNvPr>
          <p:cNvSpPr/>
          <p:nvPr/>
        </p:nvSpPr>
        <p:spPr>
          <a:xfrm>
            <a:off x="5778500" y="4713288"/>
            <a:ext cx="635000" cy="317500"/>
          </a:xfrm>
          <a:prstGeom prst="downArrow">
            <a:avLst/>
          </a:prstGeom>
          <a:solidFill>
            <a:srgbClr val="C8D6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A836A589-9A72-465A-B11B-B03082F20239}"/>
              </a:ext>
            </a:extLst>
          </p:cNvPr>
          <p:cNvSpPr/>
          <p:nvPr/>
        </p:nvSpPr>
        <p:spPr>
          <a:xfrm>
            <a:off x="2540000" y="4992688"/>
            <a:ext cx="7112000" cy="1270000"/>
          </a:xfrm>
          <a:prstGeom prst="roundRect">
            <a:avLst/>
          </a:prstGeom>
          <a:solidFill>
            <a:srgbClr val="1B2838"/>
          </a:solidFill>
          <a:ln w="25400" cap="flat" cmpd="sng" algn="ctr">
            <a:solidFill>
              <a:srgbClr val="00D4A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1B2838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C78DDC1B-5D67-40CB-8D68-038AB3A80A97}"/>
              </a:ext>
            </a:extLst>
          </p:cNvPr>
          <p:cNvSpPr txBox="1"/>
          <p:nvPr/>
        </p:nvSpPr>
        <p:spPr>
          <a:xfrm>
            <a:off x="416859" y="5425520"/>
            <a:ext cx="177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b="1" dirty="0">
                <a:solidFill>
                  <a:srgbClr val="00D4AA"/>
                </a:solidFill>
              </a:rPr>
              <a:t>LLM ENGINE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A66F6D6-9DEE-443C-A9EC-791E02BF2530}"/>
              </a:ext>
            </a:extLst>
          </p:cNvPr>
          <p:cNvSpPr txBox="1"/>
          <p:nvPr/>
        </p:nvSpPr>
        <p:spPr>
          <a:xfrm>
            <a:off x="2794000" y="5183188"/>
            <a:ext cx="6604000" cy="64633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dirty="0">
                <a:solidFill>
                  <a:srgbClr val="F0F0F0"/>
                </a:solidFill>
              </a:rPr>
              <a:t>Claude (</a:t>
            </a:r>
            <a:r>
              <a:rPr lang="es-ES" dirty="0" err="1">
                <a:solidFill>
                  <a:srgbClr val="F0F0F0"/>
                </a:solidFill>
              </a:rPr>
              <a:t>Anthropic</a:t>
            </a:r>
            <a:r>
              <a:rPr lang="es-ES" dirty="0">
                <a:solidFill>
                  <a:srgbClr val="F0F0F0"/>
                </a:solidFill>
              </a:rPr>
              <a:t> API)
Razonamiento · Tool Use · Generación de Contenido</a:t>
            </a:r>
            <a:endParaRPr lang="es-CO" dirty="0">
              <a:solidFill>
                <a:srgbClr val="F0F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648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F59555-9892-74A5-1944-AD95A426E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s-CO" dirty="0"/>
              <a:t>Agentes Especializados del Sistema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BBE124E5-0542-4D2F-AE30-D16745E2ECC4}"/>
              </a:ext>
            </a:extLst>
          </p:cNvPr>
          <p:cNvSpPr/>
          <p:nvPr/>
        </p:nvSpPr>
        <p:spPr>
          <a:xfrm>
            <a:off x="482600" y="2361247"/>
            <a:ext cx="2032000" cy="3340305"/>
          </a:xfrm>
          <a:prstGeom prst="roundRect">
            <a:avLst/>
          </a:prstGeom>
          <a:solidFill>
            <a:srgbClr val="1B2838"/>
          </a:solidFill>
          <a:ln w="25400" cap="flat" cmpd="sng" algn="ctr">
            <a:solidFill>
              <a:srgbClr val="00D4A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1B2838"/>
              </a:solidFill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3E3D05E4-A6E9-46E5-8410-1EEB6B412E86}"/>
              </a:ext>
            </a:extLst>
          </p:cNvPr>
          <p:cNvSpPr/>
          <p:nvPr/>
        </p:nvSpPr>
        <p:spPr>
          <a:xfrm>
            <a:off x="1181100" y="2551748"/>
            <a:ext cx="635000" cy="635000"/>
          </a:xfrm>
          <a:prstGeom prst="ellipse">
            <a:avLst/>
          </a:prstGeom>
          <a:solidFill>
            <a:srgbClr val="00D4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sz="2200" b="1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B4575E6-8A3C-4083-B046-408DE69A8822}"/>
              </a:ext>
            </a:extLst>
          </p:cNvPr>
          <p:cNvSpPr txBox="1"/>
          <p:nvPr/>
        </p:nvSpPr>
        <p:spPr>
          <a:xfrm>
            <a:off x="609600" y="3313748"/>
            <a:ext cx="177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s-CO" sz="1600" b="1" dirty="0">
                <a:solidFill>
                  <a:srgbClr val="F0F0F0"/>
                </a:solidFill>
              </a:rPr>
              <a:t>Supervisor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4DCB0E7-4B15-4EA7-A1D2-03FF2E62B79E}"/>
              </a:ext>
            </a:extLst>
          </p:cNvPr>
          <p:cNvSpPr txBox="1"/>
          <p:nvPr/>
        </p:nvSpPr>
        <p:spPr>
          <a:xfrm>
            <a:off x="609600" y="3717907"/>
            <a:ext cx="1778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s-CO" sz="1600" dirty="0">
                <a:solidFill>
                  <a:srgbClr val="00D4AA"/>
                </a:solidFill>
              </a:rPr>
              <a:t>Coordina y delega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5381EB6-35A3-42F3-B037-BE7C9A737D30}"/>
              </a:ext>
            </a:extLst>
          </p:cNvPr>
          <p:cNvSpPr txBox="1"/>
          <p:nvPr/>
        </p:nvSpPr>
        <p:spPr>
          <a:xfrm>
            <a:off x="609600" y="4381500"/>
            <a:ext cx="1778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s-ES" sz="1600" dirty="0">
                <a:solidFill>
                  <a:srgbClr val="C8D6E5"/>
                </a:solidFill>
              </a:rPr>
              <a:t>Recibe solicitudes
y asigna al agente
adecuado</a:t>
            </a:r>
            <a:endParaRPr lang="es-CO" sz="1600" dirty="0">
              <a:solidFill>
                <a:srgbClr val="C8D6E5"/>
              </a:solidFill>
            </a:endParaRP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0A07C5A9-C331-467F-9569-8E4288B2FC0E}"/>
              </a:ext>
            </a:extLst>
          </p:cNvPr>
          <p:cNvSpPr/>
          <p:nvPr/>
        </p:nvSpPr>
        <p:spPr>
          <a:xfrm>
            <a:off x="2540000" y="2805748"/>
            <a:ext cx="254000" cy="254000"/>
          </a:xfrm>
          <a:prstGeom prst="rightArrow">
            <a:avLst/>
          </a:prstGeom>
          <a:solidFill>
            <a:srgbClr val="C8D6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0B299AC6-C309-4FB8-980B-0E26D2DF1B1A}"/>
              </a:ext>
            </a:extLst>
          </p:cNvPr>
          <p:cNvSpPr/>
          <p:nvPr/>
        </p:nvSpPr>
        <p:spPr>
          <a:xfrm>
            <a:off x="2743200" y="2361248"/>
            <a:ext cx="2032000" cy="3340304"/>
          </a:xfrm>
          <a:prstGeom prst="roundRect">
            <a:avLst/>
          </a:prstGeom>
          <a:solidFill>
            <a:srgbClr val="1B2838"/>
          </a:solidFill>
          <a:ln w="25400" cap="flat" cmpd="sng" algn="ctr">
            <a:solidFill>
              <a:srgbClr val="7B68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1B2838"/>
              </a:solidFill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C4BBD9E9-A48F-4553-A696-9E78F8E134F0}"/>
              </a:ext>
            </a:extLst>
          </p:cNvPr>
          <p:cNvSpPr/>
          <p:nvPr/>
        </p:nvSpPr>
        <p:spPr>
          <a:xfrm>
            <a:off x="3441700" y="2551748"/>
            <a:ext cx="635000" cy="635000"/>
          </a:xfrm>
          <a:prstGeom prst="ellipse">
            <a:avLst/>
          </a:prstGeom>
          <a:solidFill>
            <a:srgbClr val="7B68E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sz="2200" b="1">
                <a:solidFill>
                  <a:srgbClr val="FFFFFF"/>
                </a:solidFill>
              </a:rPr>
              <a:t>I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7598DC2-4877-43B6-8119-5A193BDF16A9}"/>
              </a:ext>
            </a:extLst>
          </p:cNvPr>
          <p:cNvSpPr txBox="1"/>
          <p:nvPr/>
        </p:nvSpPr>
        <p:spPr>
          <a:xfrm>
            <a:off x="2870200" y="3313748"/>
            <a:ext cx="177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s-CO" sz="1600" b="1">
                <a:solidFill>
                  <a:srgbClr val="F0F0F0"/>
                </a:solidFill>
              </a:rPr>
              <a:t>Investigador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2ED7EDB-D7A4-4072-B479-09A495435FC3}"/>
              </a:ext>
            </a:extLst>
          </p:cNvPr>
          <p:cNvSpPr txBox="1"/>
          <p:nvPr/>
        </p:nvSpPr>
        <p:spPr>
          <a:xfrm>
            <a:off x="2870200" y="3717907"/>
            <a:ext cx="177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s-CO" sz="1600">
                <a:solidFill>
                  <a:srgbClr val="7B68EE"/>
                </a:solidFill>
              </a:rPr>
              <a:t>Analiza mercado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CD34B4A-D4A7-4DF6-A1BB-C766ED24D90C}"/>
              </a:ext>
            </a:extLst>
          </p:cNvPr>
          <p:cNvSpPr txBox="1"/>
          <p:nvPr/>
        </p:nvSpPr>
        <p:spPr>
          <a:xfrm>
            <a:off x="2870200" y="4202748"/>
            <a:ext cx="1778000" cy="107721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s-ES" sz="1600">
                <a:solidFill>
                  <a:srgbClr val="C8D6E5"/>
                </a:solidFill>
              </a:rPr>
              <a:t>Busca tendencias,
competencia y
palabras clave</a:t>
            </a:r>
            <a:endParaRPr lang="es-CO" sz="1600">
              <a:solidFill>
                <a:srgbClr val="C8D6E5"/>
              </a:solidFill>
            </a:endParaRP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6B6377A2-5016-4AA5-A327-FE407BAF5D54}"/>
              </a:ext>
            </a:extLst>
          </p:cNvPr>
          <p:cNvSpPr/>
          <p:nvPr/>
        </p:nvSpPr>
        <p:spPr>
          <a:xfrm>
            <a:off x="4800600" y="2805748"/>
            <a:ext cx="254000" cy="254000"/>
          </a:xfrm>
          <a:prstGeom prst="rightArrow">
            <a:avLst/>
          </a:prstGeom>
          <a:solidFill>
            <a:srgbClr val="C8D6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670EBECD-EF97-440E-9591-D030B9A20973}"/>
              </a:ext>
            </a:extLst>
          </p:cNvPr>
          <p:cNvSpPr/>
          <p:nvPr/>
        </p:nvSpPr>
        <p:spPr>
          <a:xfrm>
            <a:off x="5003800" y="2361247"/>
            <a:ext cx="2032000" cy="3340303"/>
          </a:xfrm>
          <a:prstGeom prst="roundRect">
            <a:avLst/>
          </a:prstGeom>
          <a:solidFill>
            <a:srgbClr val="1B2838"/>
          </a:solidFill>
          <a:ln w="25400" cap="flat" cmpd="sng" algn="ctr">
            <a:solidFill>
              <a:srgbClr val="FFD9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1B2838"/>
              </a:solidFill>
            </a:endParaRP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663EDCE5-2037-403A-A865-B918771BAE78}"/>
              </a:ext>
            </a:extLst>
          </p:cNvPr>
          <p:cNvSpPr/>
          <p:nvPr/>
        </p:nvSpPr>
        <p:spPr>
          <a:xfrm>
            <a:off x="5702300" y="2551748"/>
            <a:ext cx="635000" cy="635000"/>
          </a:xfrm>
          <a:prstGeom prst="ellipse">
            <a:avLst/>
          </a:prstGeom>
          <a:solidFill>
            <a:srgbClr val="FFD9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sz="2200" b="1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599A6AA-5E28-4F23-AB08-31977A1DE1F7}"/>
              </a:ext>
            </a:extLst>
          </p:cNvPr>
          <p:cNvSpPr txBox="1"/>
          <p:nvPr/>
        </p:nvSpPr>
        <p:spPr>
          <a:xfrm>
            <a:off x="5130800" y="3313748"/>
            <a:ext cx="177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s-CO" sz="1600" b="1">
                <a:solidFill>
                  <a:srgbClr val="F0F0F0"/>
                </a:solidFill>
              </a:rPr>
              <a:t>Estratega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A80C2E3-F2DC-472A-9157-B3F3368DB359}"/>
              </a:ext>
            </a:extLst>
          </p:cNvPr>
          <p:cNvSpPr txBox="1"/>
          <p:nvPr/>
        </p:nvSpPr>
        <p:spPr>
          <a:xfrm>
            <a:off x="5130800" y="3717907"/>
            <a:ext cx="1778000" cy="58477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s-CO" sz="1600">
                <a:solidFill>
                  <a:srgbClr val="FFD93D"/>
                </a:solidFill>
              </a:rPr>
              <a:t>Define estrategia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CB66DDD7-A8F7-4F09-A5F3-EDF643195CED}"/>
              </a:ext>
            </a:extLst>
          </p:cNvPr>
          <p:cNvSpPr txBox="1"/>
          <p:nvPr/>
        </p:nvSpPr>
        <p:spPr>
          <a:xfrm>
            <a:off x="5130800" y="4302682"/>
            <a:ext cx="1778000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s-ES" sz="1600">
                <a:solidFill>
                  <a:srgbClr val="C8D6E5"/>
                </a:solidFill>
              </a:rPr>
              <a:t>Diseña plan de
marketing con
objetivos claros</a:t>
            </a:r>
            <a:endParaRPr lang="es-CO" sz="1600">
              <a:solidFill>
                <a:srgbClr val="C8D6E5"/>
              </a:solidFill>
            </a:endParaRPr>
          </a:p>
        </p:txBody>
      </p:sp>
      <p:sp>
        <p:nvSpPr>
          <p:cNvPr id="20" name="Flecha: a la derecha 19">
            <a:extLst>
              <a:ext uri="{FF2B5EF4-FFF2-40B4-BE49-F238E27FC236}">
                <a16:creationId xmlns:a16="http://schemas.microsoft.com/office/drawing/2014/main" id="{9CF562DD-823E-447A-9302-7BEEA6C476CC}"/>
              </a:ext>
            </a:extLst>
          </p:cNvPr>
          <p:cNvSpPr/>
          <p:nvPr/>
        </p:nvSpPr>
        <p:spPr>
          <a:xfrm>
            <a:off x="7061200" y="2805748"/>
            <a:ext cx="254000" cy="254000"/>
          </a:xfrm>
          <a:prstGeom prst="rightArrow">
            <a:avLst/>
          </a:prstGeom>
          <a:solidFill>
            <a:srgbClr val="C8D6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F498A628-1093-49F8-AE8A-8EA5C87EA695}"/>
              </a:ext>
            </a:extLst>
          </p:cNvPr>
          <p:cNvSpPr/>
          <p:nvPr/>
        </p:nvSpPr>
        <p:spPr>
          <a:xfrm>
            <a:off x="7264400" y="2361248"/>
            <a:ext cx="2032000" cy="3340302"/>
          </a:xfrm>
          <a:prstGeom prst="roundRect">
            <a:avLst/>
          </a:prstGeom>
          <a:solidFill>
            <a:srgbClr val="1B2838"/>
          </a:solidFill>
          <a:ln w="25400" cap="flat" cmpd="sng" algn="ctr">
            <a:solidFill>
              <a:srgbClr val="4ECD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1B2838"/>
              </a:solidFill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A58AEF8F-3861-42B8-8E3A-20838E81D3A6}"/>
              </a:ext>
            </a:extLst>
          </p:cNvPr>
          <p:cNvSpPr/>
          <p:nvPr/>
        </p:nvSpPr>
        <p:spPr>
          <a:xfrm>
            <a:off x="7962900" y="2551748"/>
            <a:ext cx="635000" cy="635000"/>
          </a:xfrm>
          <a:prstGeom prst="ellipse">
            <a:avLst/>
          </a:prstGeom>
          <a:solidFill>
            <a:srgbClr val="4ECDC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sz="22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A93C00F-64A2-4EC1-98FF-DBB1F651F58E}"/>
              </a:ext>
            </a:extLst>
          </p:cNvPr>
          <p:cNvSpPr txBox="1"/>
          <p:nvPr/>
        </p:nvSpPr>
        <p:spPr>
          <a:xfrm>
            <a:off x="7391400" y="3313748"/>
            <a:ext cx="177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s-CO" sz="1600" b="1">
                <a:solidFill>
                  <a:srgbClr val="F0F0F0"/>
                </a:solidFill>
              </a:rPr>
              <a:t>Redactor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8270F1A9-A6D2-440C-AD85-791E29A7335D}"/>
              </a:ext>
            </a:extLst>
          </p:cNvPr>
          <p:cNvSpPr txBox="1"/>
          <p:nvPr/>
        </p:nvSpPr>
        <p:spPr>
          <a:xfrm>
            <a:off x="7391400" y="3717907"/>
            <a:ext cx="177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s-CO" sz="1600">
                <a:solidFill>
                  <a:srgbClr val="4ECDC4"/>
                </a:solidFill>
              </a:rPr>
              <a:t>Crea contenido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9A11A795-BD33-4EC9-924D-E92A74F7EBB6}"/>
              </a:ext>
            </a:extLst>
          </p:cNvPr>
          <p:cNvSpPr txBox="1"/>
          <p:nvPr/>
        </p:nvSpPr>
        <p:spPr>
          <a:xfrm>
            <a:off x="7391400" y="4202748"/>
            <a:ext cx="1778000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s-ES" sz="1600">
                <a:solidFill>
                  <a:srgbClr val="C8D6E5"/>
                </a:solidFill>
              </a:rPr>
              <a:t>Genera copy,
posts, emails y
contenido visual</a:t>
            </a:r>
            <a:endParaRPr lang="es-CO" sz="1600">
              <a:solidFill>
                <a:srgbClr val="C8D6E5"/>
              </a:solidFill>
            </a:endParaRPr>
          </a:p>
        </p:txBody>
      </p:sp>
      <p:sp>
        <p:nvSpPr>
          <p:cNvPr id="26" name="Flecha: a la derecha 25">
            <a:extLst>
              <a:ext uri="{FF2B5EF4-FFF2-40B4-BE49-F238E27FC236}">
                <a16:creationId xmlns:a16="http://schemas.microsoft.com/office/drawing/2014/main" id="{B1371530-E4CF-47CA-86DF-B7F1C78540CC}"/>
              </a:ext>
            </a:extLst>
          </p:cNvPr>
          <p:cNvSpPr/>
          <p:nvPr/>
        </p:nvSpPr>
        <p:spPr>
          <a:xfrm>
            <a:off x="9321800" y="2805748"/>
            <a:ext cx="254000" cy="254000"/>
          </a:xfrm>
          <a:prstGeom prst="rightArrow">
            <a:avLst/>
          </a:prstGeom>
          <a:solidFill>
            <a:srgbClr val="C8D6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CD79D55A-14F9-48A6-9DEE-964AFB9D6B45}"/>
              </a:ext>
            </a:extLst>
          </p:cNvPr>
          <p:cNvSpPr/>
          <p:nvPr/>
        </p:nvSpPr>
        <p:spPr>
          <a:xfrm>
            <a:off x="9525000" y="2361247"/>
            <a:ext cx="2032000" cy="3340301"/>
          </a:xfrm>
          <a:prstGeom prst="roundRect">
            <a:avLst/>
          </a:prstGeom>
          <a:solidFill>
            <a:srgbClr val="1B2838"/>
          </a:solidFill>
          <a:ln w="25400" cap="flat" cmpd="sng" algn="ctr">
            <a:solidFill>
              <a:srgbClr val="FF6B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1B2838"/>
              </a:solidFill>
            </a:endParaRP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BBFCBB4F-4140-417E-85A5-DFDE49C21BC3}"/>
              </a:ext>
            </a:extLst>
          </p:cNvPr>
          <p:cNvSpPr/>
          <p:nvPr/>
        </p:nvSpPr>
        <p:spPr>
          <a:xfrm>
            <a:off x="10223500" y="2551748"/>
            <a:ext cx="635000" cy="635000"/>
          </a:xfrm>
          <a:prstGeom prst="ellipse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sz="2200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1367DE3-288E-4265-8AB6-BC67F0DA82F0}"/>
              </a:ext>
            </a:extLst>
          </p:cNvPr>
          <p:cNvSpPr txBox="1"/>
          <p:nvPr/>
        </p:nvSpPr>
        <p:spPr>
          <a:xfrm>
            <a:off x="9652000" y="3313748"/>
            <a:ext cx="177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s-CO" sz="1600" b="1">
                <a:solidFill>
                  <a:srgbClr val="F0F0F0"/>
                </a:solidFill>
              </a:rPr>
              <a:t>Revisor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1BD2969-43BE-4DB4-A5A5-8EC443E9B26C}"/>
              </a:ext>
            </a:extLst>
          </p:cNvPr>
          <p:cNvSpPr txBox="1"/>
          <p:nvPr/>
        </p:nvSpPr>
        <p:spPr>
          <a:xfrm>
            <a:off x="9652000" y="3717907"/>
            <a:ext cx="177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s-CO" sz="1600">
                <a:solidFill>
                  <a:srgbClr val="FF6B6B"/>
                </a:solidFill>
              </a:rPr>
              <a:t>Valida calidad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27DD0C82-3362-4550-9133-FA2381BE0BB8}"/>
              </a:ext>
            </a:extLst>
          </p:cNvPr>
          <p:cNvSpPr txBox="1"/>
          <p:nvPr/>
        </p:nvSpPr>
        <p:spPr>
          <a:xfrm>
            <a:off x="9652000" y="4202748"/>
            <a:ext cx="1778000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s-ES" sz="1600">
                <a:solidFill>
                  <a:srgbClr val="C8D6E5"/>
                </a:solidFill>
              </a:rPr>
              <a:t>Revisa tono, SEO
y coherencia de
marca</a:t>
            </a:r>
            <a:endParaRPr lang="es-CO" sz="1600">
              <a:solidFill>
                <a:srgbClr val="C8D6E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392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F1186E-6EB9-B4A3-BC41-1003EB047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s-ES" dirty="0"/>
              <a:t>Flujo de Trabajo: De Solicitud a Entregable</a:t>
            </a:r>
            <a:endParaRPr lang="es-CO" dirty="0"/>
          </a:p>
        </p:txBody>
      </p:sp>
      <p:sp>
        <p:nvSpPr>
          <p:cNvPr id="3" name="Flecha: pentágono 2">
            <a:extLst>
              <a:ext uri="{FF2B5EF4-FFF2-40B4-BE49-F238E27FC236}">
                <a16:creationId xmlns:a16="http://schemas.microsoft.com/office/drawing/2014/main" id="{7833C8DD-3186-4015-A379-7F71EFF806F6}"/>
              </a:ext>
            </a:extLst>
          </p:cNvPr>
          <p:cNvSpPr/>
          <p:nvPr/>
        </p:nvSpPr>
        <p:spPr>
          <a:xfrm>
            <a:off x="482600" y="2615248"/>
            <a:ext cx="2032000" cy="1143000"/>
          </a:xfrm>
          <a:prstGeom prst="homePlate">
            <a:avLst/>
          </a:prstGeom>
          <a:solidFill>
            <a:srgbClr val="4ECDC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0D1B2A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1EDC796-5ED8-4361-9A48-D2A4F314220C}"/>
              </a:ext>
            </a:extLst>
          </p:cNvPr>
          <p:cNvSpPr txBox="1"/>
          <p:nvPr/>
        </p:nvSpPr>
        <p:spPr>
          <a:xfrm>
            <a:off x="546100" y="2742248"/>
            <a:ext cx="38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2200" b="1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313771F-1BD8-4AAE-8BD9-C909C7563C57}"/>
              </a:ext>
            </a:extLst>
          </p:cNvPr>
          <p:cNvSpPr txBox="1"/>
          <p:nvPr/>
        </p:nvSpPr>
        <p:spPr>
          <a:xfrm>
            <a:off x="863600" y="2742248"/>
            <a:ext cx="1397000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600" b="1">
                <a:solidFill>
                  <a:srgbClr val="0D1B2A"/>
                </a:solidFill>
              </a:rPr>
              <a:t>Usuario envía
solicitud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D69BAF7-6FDB-4D33-B7C2-CA92F7393218}"/>
              </a:ext>
            </a:extLst>
          </p:cNvPr>
          <p:cNvSpPr txBox="1"/>
          <p:nvPr/>
        </p:nvSpPr>
        <p:spPr>
          <a:xfrm>
            <a:off x="609600" y="3885248"/>
            <a:ext cx="177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i="1" dirty="0" err="1">
                <a:solidFill>
                  <a:srgbClr val="4ECDC4"/>
                </a:solidFill>
              </a:rPr>
              <a:t>Streamlit</a:t>
            </a:r>
            <a:r>
              <a:rPr lang="es-CO" i="1" dirty="0">
                <a:solidFill>
                  <a:srgbClr val="4ECDC4"/>
                </a:solidFill>
              </a:rPr>
              <a:t> Chat</a:t>
            </a:r>
          </a:p>
        </p:txBody>
      </p:sp>
      <p:sp>
        <p:nvSpPr>
          <p:cNvPr id="7" name="Flecha: pentágono 6">
            <a:extLst>
              <a:ext uri="{FF2B5EF4-FFF2-40B4-BE49-F238E27FC236}">
                <a16:creationId xmlns:a16="http://schemas.microsoft.com/office/drawing/2014/main" id="{A7C17451-3DE9-4361-80C2-E25A4B43790E}"/>
              </a:ext>
            </a:extLst>
          </p:cNvPr>
          <p:cNvSpPr/>
          <p:nvPr/>
        </p:nvSpPr>
        <p:spPr>
          <a:xfrm>
            <a:off x="2743200" y="2615248"/>
            <a:ext cx="2032000" cy="1143000"/>
          </a:xfrm>
          <a:prstGeom prst="homePlate">
            <a:avLst/>
          </a:prstGeom>
          <a:solidFill>
            <a:srgbClr val="00D4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0D1B2A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95EE518-1FCF-42B6-A234-E3802BDF2B7F}"/>
              </a:ext>
            </a:extLst>
          </p:cNvPr>
          <p:cNvSpPr txBox="1"/>
          <p:nvPr/>
        </p:nvSpPr>
        <p:spPr>
          <a:xfrm>
            <a:off x="2806700" y="2742248"/>
            <a:ext cx="38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2200" b="1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700EE14-3E0E-406A-85C5-FD3DC5374387}"/>
              </a:ext>
            </a:extLst>
          </p:cNvPr>
          <p:cNvSpPr txBox="1"/>
          <p:nvPr/>
        </p:nvSpPr>
        <p:spPr>
          <a:xfrm>
            <a:off x="3124200" y="2742248"/>
            <a:ext cx="1397000" cy="83099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600" b="1" dirty="0">
                <a:solidFill>
                  <a:srgbClr val="0D1B2A"/>
                </a:solidFill>
              </a:rPr>
              <a:t>Supervisor
analiza y rutea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A1599AE-61D8-44B5-8291-CF7CBE94F2E6}"/>
              </a:ext>
            </a:extLst>
          </p:cNvPr>
          <p:cNvSpPr txBox="1"/>
          <p:nvPr/>
        </p:nvSpPr>
        <p:spPr>
          <a:xfrm>
            <a:off x="2870200" y="3885248"/>
            <a:ext cx="177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i="1">
                <a:solidFill>
                  <a:srgbClr val="00D4AA"/>
                </a:solidFill>
              </a:rPr>
              <a:t>LangGraph</a:t>
            </a:r>
          </a:p>
        </p:txBody>
      </p:sp>
      <p:sp>
        <p:nvSpPr>
          <p:cNvPr id="11" name="Flecha: pentágono 10">
            <a:extLst>
              <a:ext uri="{FF2B5EF4-FFF2-40B4-BE49-F238E27FC236}">
                <a16:creationId xmlns:a16="http://schemas.microsoft.com/office/drawing/2014/main" id="{6944A13F-80BC-4358-A419-88285627BFB1}"/>
              </a:ext>
            </a:extLst>
          </p:cNvPr>
          <p:cNvSpPr/>
          <p:nvPr/>
        </p:nvSpPr>
        <p:spPr>
          <a:xfrm>
            <a:off x="5003800" y="2615248"/>
            <a:ext cx="2032000" cy="1143000"/>
          </a:xfrm>
          <a:prstGeom prst="homePlate">
            <a:avLst/>
          </a:prstGeom>
          <a:solidFill>
            <a:srgbClr val="7B68E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0D1B2A"/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919226A-AE0B-4618-BCC3-74E1FB1408FF}"/>
              </a:ext>
            </a:extLst>
          </p:cNvPr>
          <p:cNvSpPr txBox="1"/>
          <p:nvPr/>
        </p:nvSpPr>
        <p:spPr>
          <a:xfrm>
            <a:off x="5067300" y="2742248"/>
            <a:ext cx="38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2200" b="1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3C4EBF2-CA70-461F-B9D1-771566F41BD5}"/>
              </a:ext>
            </a:extLst>
          </p:cNvPr>
          <p:cNvSpPr txBox="1"/>
          <p:nvPr/>
        </p:nvSpPr>
        <p:spPr>
          <a:xfrm>
            <a:off x="5384800" y="2742248"/>
            <a:ext cx="1397000" cy="107721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600" b="1">
                <a:solidFill>
                  <a:srgbClr val="0D1B2A"/>
                </a:solidFill>
              </a:rPr>
              <a:t>Agentes ejecutan
tareas paralelas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D821560-97A4-416D-8101-93E91E08BD91}"/>
              </a:ext>
            </a:extLst>
          </p:cNvPr>
          <p:cNvSpPr txBox="1"/>
          <p:nvPr/>
        </p:nvSpPr>
        <p:spPr>
          <a:xfrm>
            <a:off x="5130800" y="3885248"/>
            <a:ext cx="177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i="1">
                <a:solidFill>
                  <a:srgbClr val="7B68EE"/>
                </a:solidFill>
              </a:rPr>
              <a:t>Claude API</a:t>
            </a:r>
          </a:p>
        </p:txBody>
      </p:sp>
      <p:sp>
        <p:nvSpPr>
          <p:cNvPr id="15" name="Flecha: pentágono 14">
            <a:extLst>
              <a:ext uri="{FF2B5EF4-FFF2-40B4-BE49-F238E27FC236}">
                <a16:creationId xmlns:a16="http://schemas.microsoft.com/office/drawing/2014/main" id="{BB6FB4FE-F8BB-46F2-945D-4BD8B952C728}"/>
              </a:ext>
            </a:extLst>
          </p:cNvPr>
          <p:cNvSpPr/>
          <p:nvPr/>
        </p:nvSpPr>
        <p:spPr>
          <a:xfrm>
            <a:off x="7264400" y="2615248"/>
            <a:ext cx="2032000" cy="1143000"/>
          </a:xfrm>
          <a:prstGeom prst="homePlate">
            <a:avLst/>
          </a:prstGeom>
          <a:solidFill>
            <a:srgbClr val="FFD9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0D1B2A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E35EA98-1EB9-4513-954C-3DB88AF39AFD}"/>
              </a:ext>
            </a:extLst>
          </p:cNvPr>
          <p:cNvSpPr txBox="1"/>
          <p:nvPr/>
        </p:nvSpPr>
        <p:spPr>
          <a:xfrm>
            <a:off x="7327900" y="2742248"/>
            <a:ext cx="38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2200" b="1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FD74ECF-1812-4252-BCB3-E89855393C95}"/>
              </a:ext>
            </a:extLst>
          </p:cNvPr>
          <p:cNvSpPr txBox="1"/>
          <p:nvPr/>
        </p:nvSpPr>
        <p:spPr>
          <a:xfrm>
            <a:off x="7645400" y="2742248"/>
            <a:ext cx="1397000" cy="107721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1600" b="1">
                <a:solidFill>
                  <a:srgbClr val="0D1B2A"/>
                </a:solidFill>
              </a:rPr>
              <a:t>Revisor valida
calidad final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F25D875-4C50-4523-A6B8-B4F9823681BA}"/>
              </a:ext>
            </a:extLst>
          </p:cNvPr>
          <p:cNvSpPr txBox="1"/>
          <p:nvPr/>
        </p:nvSpPr>
        <p:spPr>
          <a:xfrm>
            <a:off x="7391400" y="3885248"/>
            <a:ext cx="177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i="1">
                <a:solidFill>
                  <a:srgbClr val="FFD93D"/>
                </a:solidFill>
              </a:rPr>
              <a:t>QA Loop</a:t>
            </a:r>
          </a:p>
        </p:txBody>
      </p:sp>
      <p:sp>
        <p:nvSpPr>
          <p:cNvPr id="19" name="Flecha: pentágono 18">
            <a:extLst>
              <a:ext uri="{FF2B5EF4-FFF2-40B4-BE49-F238E27FC236}">
                <a16:creationId xmlns:a16="http://schemas.microsoft.com/office/drawing/2014/main" id="{46ECDF8F-5E27-4CDC-A711-0408497BF754}"/>
              </a:ext>
            </a:extLst>
          </p:cNvPr>
          <p:cNvSpPr/>
          <p:nvPr/>
        </p:nvSpPr>
        <p:spPr>
          <a:xfrm>
            <a:off x="9525000" y="2615248"/>
            <a:ext cx="2032000" cy="1143000"/>
          </a:xfrm>
          <a:prstGeom prst="homePlate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>
              <a:solidFill>
                <a:srgbClr val="0D1B2A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933D9170-7AC9-4029-8C23-62450D03BD2D}"/>
              </a:ext>
            </a:extLst>
          </p:cNvPr>
          <p:cNvSpPr txBox="1"/>
          <p:nvPr/>
        </p:nvSpPr>
        <p:spPr>
          <a:xfrm>
            <a:off x="9588500" y="2742248"/>
            <a:ext cx="38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sz="2200" b="1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905DA2A-F75B-4FEB-8AF6-8C3103EAA558}"/>
              </a:ext>
            </a:extLst>
          </p:cNvPr>
          <p:cNvSpPr txBox="1"/>
          <p:nvPr/>
        </p:nvSpPr>
        <p:spPr>
          <a:xfrm>
            <a:off x="9906000" y="2742248"/>
            <a:ext cx="1397000" cy="107721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sz="1600" b="1">
                <a:solidFill>
                  <a:srgbClr val="0D1B2A"/>
                </a:solidFill>
              </a:rPr>
              <a:t>Resultado se
muestra al usuario</a:t>
            </a:r>
            <a:endParaRPr lang="es-CO" sz="1600" b="1">
              <a:solidFill>
                <a:srgbClr val="0D1B2A"/>
              </a:solidFill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94864C9-585A-4B76-9E64-74EA25E4261D}"/>
              </a:ext>
            </a:extLst>
          </p:cNvPr>
          <p:cNvSpPr txBox="1"/>
          <p:nvPr/>
        </p:nvSpPr>
        <p:spPr>
          <a:xfrm>
            <a:off x="9652000" y="3885248"/>
            <a:ext cx="177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CO" i="1">
                <a:solidFill>
                  <a:srgbClr val="FF6B6B"/>
                </a:solidFill>
              </a:rPr>
              <a:t>Streamlit UI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8CCF4A9-EC5C-4F0A-98CB-3A4F7001047C}"/>
              </a:ext>
            </a:extLst>
          </p:cNvPr>
          <p:cNvSpPr txBox="1"/>
          <p:nvPr/>
        </p:nvSpPr>
        <p:spPr>
          <a:xfrm>
            <a:off x="635000" y="4738688"/>
            <a:ext cx="10922000" cy="9233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s-ES" i="1" dirty="0">
                <a:solidFill>
                  <a:srgbClr val="C8D6E5"/>
                </a:solidFill>
              </a:rPr>
              <a:t>El Supervisor de </a:t>
            </a:r>
            <a:r>
              <a:rPr lang="es-ES" i="1" dirty="0" err="1">
                <a:solidFill>
                  <a:srgbClr val="C8D6E5"/>
                </a:solidFill>
              </a:rPr>
              <a:t>LangGraph</a:t>
            </a:r>
            <a:r>
              <a:rPr lang="es-ES" i="1" dirty="0">
                <a:solidFill>
                  <a:srgbClr val="C8D6E5"/>
                </a:solidFill>
              </a:rPr>
              <a:t> orquesta todo el flujo: analiza la solicitud, selecciona los agentes apropiados, gestiona la comunicación entre ellos, y consolida los resultados antes de entregarlos al usuario a través de </a:t>
            </a:r>
            <a:r>
              <a:rPr lang="es-ES" i="1" dirty="0" err="1">
                <a:solidFill>
                  <a:srgbClr val="C8D6E5"/>
                </a:solidFill>
              </a:rPr>
              <a:t>Streamlit</a:t>
            </a:r>
            <a:r>
              <a:rPr lang="es-ES" i="1" dirty="0">
                <a:solidFill>
                  <a:srgbClr val="C8D6E5"/>
                </a:solidFill>
              </a:rPr>
              <a:t>.</a:t>
            </a:r>
            <a:endParaRPr lang="es-CO" i="1" dirty="0">
              <a:solidFill>
                <a:srgbClr val="C8D6E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222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3C7C0-254E-A3BC-0F60-F152C7049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1">
            <a:extLst>
              <a:ext uri="{FF2B5EF4-FFF2-40B4-BE49-F238E27FC236}">
                <a16:creationId xmlns:a16="http://schemas.microsoft.com/office/drawing/2014/main" id="{73839AC2-F9AD-6776-EBBA-FEE4ADC73518}"/>
              </a:ext>
            </a:extLst>
          </p:cNvPr>
          <p:cNvSpPr/>
          <p:nvPr/>
        </p:nvSpPr>
        <p:spPr>
          <a:xfrm>
            <a:off x="0" y="5461000"/>
            <a:ext cx="12192000" cy="635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Gracias">
            <a:extLst>
              <a:ext uri="{FF2B5EF4-FFF2-40B4-BE49-F238E27FC236}">
                <a16:creationId xmlns:a16="http://schemas.microsoft.com/office/drawing/2014/main" id="{6CEA809B-1525-E2C6-630C-2A2F5D1A3A89}"/>
              </a:ext>
            </a:extLst>
          </p:cNvPr>
          <p:cNvSpPr/>
          <p:nvPr/>
        </p:nvSpPr>
        <p:spPr>
          <a:xfrm>
            <a:off x="0" y="1778000"/>
            <a:ext cx="12192000" cy="254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s-CO" sz="8000" b="1" dirty="0">
                <a:solidFill>
                  <a:srgbClr val="00D4AA"/>
                </a:solidFill>
              </a:rPr>
              <a:t>Demo</a:t>
            </a:r>
          </a:p>
        </p:txBody>
      </p:sp>
      <p:sp>
        <p:nvSpPr>
          <p:cNvPr id="12" name="Sub">
            <a:extLst>
              <a:ext uri="{FF2B5EF4-FFF2-40B4-BE49-F238E27FC236}">
                <a16:creationId xmlns:a16="http://schemas.microsoft.com/office/drawing/2014/main" id="{18E9CFFC-4762-25D4-967C-246D7D467829}"/>
              </a:ext>
            </a:extLst>
          </p:cNvPr>
          <p:cNvSpPr/>
          <p:nvPr/>
        </p:nvSpPr>
        <p:spPr>
          <a:xfrm>
            <a:off x="2286000" y="43815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s-CO" sz="1800" dirty="0">
                <a:solidFill>
                  <a:srgbClr val="C8D6E5"/>
                </a:solidFill>
              </a:rPr>
              <a:t>Sistema de Marketing con Multiagentes de IA</a:t>
            </a:r>
          </a:p>
        </p:txBody>
      </p:sp>
      <p:sp>
        <p:nvSpPr>
          <p:cNvPr id="13" name="Footer">
            <a:extLst>
              <a:ext uri="{FF2B5EF4-FFF2-40B4-BE49-F238E27FC236}">
                <a16:creationId xmlns:a16="http://schemas.microsoft.com/office/drawing/2014/main" id="{3AE14808-F8D7-E6E8-60B1-E7E058C00ED9}"/>
              </a:ext>
            </a:extLst>
          </p:cNvPr>
          <p:cNvSpPr/>
          <p:nvPr/>
        </p:nvSpPr>
        <p:spPr>
          <a:xfrm>
            <a:off x="0" y="5651500"/>
            <a:ext cx="12192000" cy="952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s-CO" sz="1400" b="1" dirty="0">
                <a:solidFill>
                  <a:srgbClr val="00D4AA"/>
                </a:solidFill>
              </a:rPr>
              <a:t>FLISol 2026  </a:t>
            </a:r>
            <a:r>
              <a:rPr lang="es-CO" sz="1400" dirty="0">
                <a:solidFill>
                  <a:srgbClr val="C8D6E5"/>
                </a:solidFill>
              </a:rPr>
              <a:t>·  CORHUILA  ·  </a:t>
            </a:r>
            <a:r>
              <a:rPr lang="es-CO" sz="1400" b="1" dirty="0">
                <a:solidFill>
                  <a:srgbClr val="F0F0F0"/>
                </a:solidFill>
              </a:rPr>
              <a:t>github.com/jaquimbayoc7/sistema-de-marketing-multiagentes</a:t>
            </a:r>
          </a:p>
        </p:txBody>
      </p:sp>
      <p:sp>
        <p:nvSpPr>
          <p:cNvPr id="14" name="Dot1">
            <a:extLst>
              <a:ext uri="{FF2B5EF4-FFF2-40B4-BE49-F238E27FC236}">
                <a16:creationId xmlns:a16="http://schemas.microsoft.com/office/drawing/2014/main" id="{7E357B5B-82D9-6B31-8DD8-7453E8FEB7CE}"/>
              </a:ext>
            </a:extLst>
          </p:cNvPr>
          <p:cNvSpPr/>
          <p:nvPr/>
        </p:nvSpPr>
        <p:spPr>
          <a:xfrm>
            <a:off x="838200" y="4508500"/>
            <a:ext cx="177800" cy="17780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Dot2">
            <a:extLst>
              <a:ext uri="{FF2B5EF4-FFF2-40B4-BE49-F238E27FC236}">
                <a16:creationId xmlns:a16="http://schemas.microsoft.com/office/drawing/2014/main" id="{4B853705-53E0-0A72-63A2-D94245A6A8A7}"/>
              </a:ext>
            </a:extLst>
          </p:cNvPr>
          <p:cNvSpPr/>
          <p:nvPr/>
        </p:nvSpPr>
        <p:spPr>
          <a:xfrm>
            <a:off x="11125200" y="4508500"/>
            <a:ext cx="177800" cy="1778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44710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74A6AB-A1A0-B5F3-F2DC-113B67848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es-CO" sz="2800" b="1" dirty="0">
                <a:solidFill>
                  <a:srgbClr val="00D4AA"/>
                </a:solidFill>
              </a:rPr>
              <a:t>Skills Clave</a:t>
            </a:r>
            <a:r>
              <a:rPr lang="es-CO" sz="2200" b="0" dirty="0">
                <a:solidFill>
                  <a:srgbClr val="C8D6E5"/>
                </a:solidFill>
              </a:rPr>
              <a:t>  y su impacto en el proyecto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7362E8D-6776-451A-92CC-1C05106782DC}"/>
              </a:ext>
            </a:extLst>
          </p:cNvPr>
          <p:cNvSpPr/>
          <p:nvPr/>
        </p:nvSpPr>
        <p:spPr>
          <a:xfrm>
            <a:off x="838200" y="1651000"/>
            <a:ext cx="3429000" cy="20955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00D4A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13FFCA1-BD30-41E4-B76F-161542B55AF1}"/>
              </a:ext>
            </a:extLst>
          </p:cNvPr>
          <p:cNvSpPr/>
          <p:nvPr/>
        </p:nvSpPr>
        <p:spPr>
          <a:xfrm>
            <a:off x="838200" y="1651000"/>
            <a:ext cx="3429000" cy="63500"/>
          </a:xfrm>
          <a:prstGeom prst="rect">
            <a:avLst/>
          </a:prstGeom>
          <a:solidFill>
            <a:srgbClr val="00D4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712988A-101B-41DC-B85D-883E1B2208FD}"/>
              </a:ext>
            </a:extLst>
          </p:cNvPr>
          <p:cNvSpPr txBox="1"/>
          <p:nvPr/>
        </p:nvSpPr>
        <p:spPr>
          <a:xfrm>
            <a:off x="965200" y="1778000"/>
            <a:ext cx="3175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>
              <a:buNone/>
            </a:pPr>
            <a:r>
              <a:rPr lang="es-ES" sz="1800" b="1" dirty="0">
                <a:solidFill>
                  <a:srgbClr val="00D4AA"/>
                </a:solidFill>
              </a:rPr>
              <a:t>Python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CDCE980-530E-4B84-B28C-DFD4C570EAAB}"/>
              </a:ext>
            </a:extLst>
          </p:cNvPr>
          <p:cNvSpPr txBox="1"/>
          <p:nvPr/>
        </p:nvSpPr>
        <p:spPr>
          <a:xfrm>
            <a:off x="965200" y="2235200"/>
            <a:ext cx="3175000" cy="1384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just">
              <a:buNone/>
            </a:pPr>
            <a:r>
              <a:rPr lang="es-ES" sz="1600" b="1" dirty="0">
                <a:solidFill>
                  <a:srgbClr val="F0F0F0"/>
                </a:solidFill>
              </a:rPr>
              <a:t>Conecta todos los componentes del sistema</a:t>
            </a:r>
          </a:p>
          <a:p>
            <a:pPr marL="0" indent="0" algn="just">
              <a:buNone/>
            </a:pPr>
            <a:r>
              <a:rPr lang="es-ES" sz="1600" dirty="0">
                <a:solidFill>
                  <a:srgbClr val="C8D6E5"/>
                </a:solidFill>
              </a:rPr>
              <a:t>Sin él no hay agentes, ni grafos, ni UI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85E3240-02EE-4EBF-B973-471B45C3F2E5}"/>
              </a:ext>
            </a:extLst>
          </p:cNvPr>
          <p:cNvSpPr/>
          <p:nvPr/>
        </p:nvSpPr>
        <p:spPr>
          <a:xfrm>
            <a:off x="4368800" y="1651000"/>
            <a:ext cx="3429000" cy="20955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7B68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C0651CA-055D-4B0C-8234-53B97492AAE6}"/>
              </a:ext>
            </a:extLst>
          </p:cNvPr>
          <p:cNvSpPr/>
          <p:nvPr/>
        </p:nvSpPr>
        <p:spPr>
          <a:xfrm>
            <a:off x="4368800" y="1651000"/>
            <a:ext cx="3429000" cy="63500"/>
          </a:xfrm>
          <a:prstGeom prst="rect">
            <a:avLst/>
          </a:prstGeom>
          <a:solidFill>
            <a:srgbClr val="7B68E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2AD0A3F-34AE-41E0-9062-F26615A8DCD6}"/>
              </a:ext>
            </a:extLst>
          </p:cNvPr>
          <p:cNvSpPr txBox="1"/>
          <p:nvPr/>
        </p:nvSpPr>
        <p:spPr>
          <a:xfrm>
            <a:off x="4495800" y="1778000"/>
            <a:ext cx="3175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>
              <a:buNone/>
            </a:pPr>
            <a:r>
              <a:rPr lang="es-ES" sz="1800" b="1" dirty="0">
                <a:solidFill>
                  <a:srgbClr val="7B68EE"/>
                </a:solidFill>
              </a:rPr>
              <a:t>LangGraph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887C376-0A10-47D7-90BA-C5753E596D3A}"/>
              </a:ext>
            </a:extLst>
          </p:cNvPr>
          <p:cNvSpPr txBox="1"/>
          <p:nvPr/>
        </p:nvSpPr>
        <p:spPr>
          <a:xfrm>
            <a:off x="4495800" y="2235200"/>
            <a:ext cx="3175000" cy="1384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just">
              <a:buNone/>
            </a:pPr>
            <a:r>
              <a:rPr lang="es-ES" sz="1600" b="1" dirty="0">
                <a:solidFill>
                  <a:srgbClr val="F0F0F0"/>
                </a:solidFill>
              </a:rPr>
              <a:t>Convierte agentes aislados en un equipo</a:t>
            </a:r>
          </a:p>
          <a:p>
            <a:pPr marL="0" indent="0" algn="just">
              <a:buNone/>
            </a:pPr>
            <a:r>
              <a:rPr lang="es-ES" sz="1600" dirty="0">
                <a:solidFill>
                  <a:srgbClr val="C8D6E5"/>
                </a:solidFill>
              </a:rPr>
              <a:t>Controla el flujo, estado y decisiones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2042506E-F8F8-4713-B35B-7574449668AC}"/>
              </a:ext>
            </a:extLst>
          </p:cNvPr>
          <p:cNvSpPr/>
          <p:nvPr/>
        </p:nvSpPr>
        <p:spPr>
          <a:xfrm>
            <a:off x="7899400" y="1651000"/>
            <a:ext cx="3429000" cy="20955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FF6B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386F20B-2C76-4F96-BE7D-BDC732345976}"/>
              </a:ext>
            </a:extLst>
          </p:cNvPr>
          <p:cNvSpPr/>
          <p:nvPr/>
        </p:nvSpPr>
        <p:spPr>
          <a:xfrm>
            <a:off x="7899400" y="1651000"/>
            <a:ext cx="3429000" cy="63500"/>
          </a:xfrm>
          <a:prstGeom prst="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94CEAD3-21C7-4AD7-9664-F55FF42B697D}"/>
              </a:ext>
            </a:extLst>
          </p:cNvPr>
          <p:cNvSpPr txBox="1"/>
          <p:nvPr/>
        </p:nvSpPr>
        <p:spPr>
          <a:xfrm>
            <a:off x="8026400" y="1778000"/>
            <a:ext cx="3175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>
              <a:buNone/>
            </a:pPr>
            <a:r>
              <a:rPr lang="es-ES" sz="1800" b="1" dirty="0">
                <a:solidFill>
                  <a:srgbClr val="FF6B6B"/>
                </a:solidFill>
              </a:rPr>
              <a:t>Claude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D9EF4AF-A8ED-4AB8-81B3-9412594F5A9A}"/>
              </a:ext>
            </a:extLst>
          </p:cNvPr>
          <p:cNvSpPr txBox="1"/>
          <p:nvPr/>
        </p:nvSpPr>
        <p:spPr>
          <a:xfrm>
            <a:off x="8026400" y="2235200"/>
            <a:ext cx="3175000" cy="1384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just">
              <a:buNone/>
            </a:pPr>
            <a:r>
              <a:rPr lang="es-ES" sz="1600" b="1" dirty="0">
                <a:solidFill>
                  <a:srgbClr val="F0F0F0"/>
                </a:solidFill>
              </a:rPr>
              <a:t>El motor que razona y genera estrategia</a:t>
            </a:r>
          </a:p>
          <a:p>
            <a:pPr marL="0" indent="0" algn="just">
              <a:buNone/>
            </a:pPr>
            <a:r>
              <a:rPr lang="es-ES" sz="1600" dirty="0">
                <a:solidFill>
                  <a:srgbClr val="C8D6E5"/>
                </a:solidFill>
              </a:rPr>
              <a:t>Transforma solicitudes en contenido real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12A01B8A-D065-4F4A-9FB2-30451A0863BD}"/>
              </a:ext>
            </a:extLst>
          </p:cNvPr>
          <p:cNvSpPr/>
          <p:nvPr/>
        </p:nvSpPr>
        <p:spPr>
          <a:xfrm>
            <a:off x="838200" y="3848100"/>
            <a:ext cx="3429000" cy="20955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FFD9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9F8F01E-5B62-496A-AB8A-7978296E10B6}"/>
              </a:ext>
            </a:extLst>
          </p:cNvPr>
          <p:cNvSpPr/>
          <p:nvPr/>
        </p:nvSpPr>
        <p:spPr>
          <a:xfrm>
            <a:off x="838200" y="3848100"/>
            <a:ext cx="3429000" cy="63500"/>
          </a:xfrm>
          <a:prstGeom prst="rect">
            <a:avLst/>
          </a:prstGeom>
          <a:solidFill>
            <a:srgbClr val="FFD9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3B67A176-95D3-4474-BA86-7A7760263758}"/>
              </a:ext>
            </a:extLst>
          </p:cNvPr>
          <p:cNvSpPr txBox="1"/>
          <p:nvPr/>
        </p:nvSpPr>
        <p:spPr>
          <a:xfrm>
            <a:off x="965200" y="3975100"/>
            <a:ext cx="3175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>
              <a:buNone/>
            </a:pPr>
            <a:r>
              <a:rPr lang="es-ES" sz="1800" b="1" dirty="0">
                <a:solidFill>
                  <a:srgbClr val="FFD93D"/>
                </a:solidFill>
              </a:rPr>
              <a:t>Streamlit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19E41D1-FCDF-4CC4-ADD2-6FF634B7250F}"/>
              </a:ext>
            </a:extLst>
          </p:cNvPr>
          <p:cNvSpPr txBox="1"/>
          <p:nvPr/>
        </p:nvSpPr>
        <p:spPr>
          <a:xfrm>
            <a:off x="965200" y="4432300"/>
            <a:ext cx="3175000" cy="1384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just">
              <a:buNone/>
            </a:pPr>
            <a:r>
              <a:rPr lang="es-ES" sz="1600" b="1" dirty="0">
                <a:solidFill>
                  <a:srgbClr val="F0F0F0"/>
                </a:solidFill>
              </a:rPr>
              <a:t>Hace visible la IA para el usuario final</a:t>
            </a:r>
          </a:p>
          <a:p>
            <a:pPr marL="0" indent="0" algn="just">
              <a:buNone/>
            </a:pPr>
            <a:r>
              <a:rPr lang="es-ES" sz="1600" dirty="0">
                <a:solidFill>
                  <a:srgbClr val="C8D6E5"/>
                </a:solidFill>
              </a:rPr>
              <a:t>Chat en vivo y despliegue en minutos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43E59DAA-8252-4A15-867B-D4EA7EDE8750}"/>
              </a:ext>
            </a:extLst>
          </p:cNvPr>
          <p:cNvSpPr/>
          <p:nvPr/>
        </p:nvSpPr>
        <p:spPr>
          <a:xfrm>
            <a:off x="4368800" y="3848100"/>
            <a:ext cx="3429000" cy="20955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4ECD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D1A41ED-BEF1-4E49-99AB-7686D5E6DBCD}"/>
              </a:ext>
            </a:extLst>
          </p:cNvPr>
          <p:cNvSpPr/>
          <p:nvPr/>
        </p:nvSpPr>
        <p:spPr>
          <a:xfrm>
            <a:off x="4368800" y="3848100"/>
            <a:ext cx="3429000" cy="63500"/>
          </a:xfrm>
          <a:prstGeom prst="rect">
            <a:avLst/>
          </a:prstGeom>
          <a:solidFill>
            <a:srgbClr val="4ECDC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321577F-54A2-477C-94CC-490DF362B617}"/>
              </a:ext>
            </a:extLst>
          </p:cNvPr>
          <p:cNvSpPr txBox="1"/>
          <p:nvPr/>
        </p:nvSpPr>
        <p:spPr>
          <a:xfrm>
            <a:off x="4495800" y="3975100"/>
            <a:ext cx="3175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>
              <a:buNone/>
            </a:pPr>
            <a:r>
              <a:rPr lang="es-ES" sz="1800" b="1" dirty="0">
                <a:solidFill>
                  <a:srgbClr val="4ECDC4"/>
                </a:solidFill>
              </a:rPr>
              <a:t>Prompt Engineering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8B477AB-E006-4BD0-8C44-A9D769D60B42}"/>
              </a:ext>
            </a:extLst>
          </p:cNvPr>
          <p:cNvSpPr txBox="1"/>
          <p:nvPr/>
        </p:nvSpPr>
        <p:spPr>
          <a:xfrm>
            <a:off x="4495800" y="4432300"/>
            <a:ext cx="3175000" cy="1384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just">
              <a:buNone/>
            </a:pPr>
            <a:r>
              <a:rPr lang="es-ES" sz="1600" b="1" dirty="0">
                <a:solidFill>
                  <a:srgbClr val="F0F0F0"/>
                </a:solidFill>
              </a:rPr>
              <a:t>Define la personalidad de cada agente</a:t>
            </a:r>
          </a:p>
          <a:p>
            <a:pPr marL="0" indent="0" algn="just">
              <a:buNone/>
            </a:pPr>
            <a:r>
              <a:rPr lang="es-ES" sz="1600" dirty="0">
                <a:solidFill>
                  <a:srgbClr val="C8D6E5"/>
                </a:solidFill>
              </a:rPr>
              <a:t>Un mal prompt anula toda la arquitectura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F175261C-E696-4FDC-A22D-ED1E6FFA6ACE}"/>
              </a:ext>
            </a:extLst>
          </p:cNvPr>
          <p:cNvSpPr/>
          <p:nvPr/>
        </p:nvSpPr>
        <p:spPr>
          <a:xfrm>
            <a:off x="7899400" y="3848100"/>
            <a:ext cx="3429000" cy="20955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6C5CE7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1ADA2E0-B50B-4681-BDC4-06811B3670F4}"/>
              </a:ext>
            </a:extLst>
          </p:cNvPr>
          <p:cNvSpPr/>
          <p:nvPr/>
        </p:nvSpPr>
        <p:spPr>
          <a:xfrm>
            <a:off x="7899400" y="3848100"/>
            <a:ext cx="3429000" cy="63500"/>
          </a:xfrm>
          <a:prstGeom prst="rect">
            <a:avLst/>
          </a:prstGeom>
          <a:solidFill>
            <a:srgbClr val="6C5CE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6EA0406-5136-4DF9-9864-B210D5B44633}"/>
              </a:ext>
            </a:extLst>
          </p:cNvPr>
          <p:cNvSpPr txBox="1"/>
          <p:nvPr/>
        </p:nvSpPr>
        <p:spPr>
          <a:xfrm>
            <a:off x="8026400" y="3975100"/>
            <a:ext cx="3175000" cy="355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>
              <a:buNone/>
            </a:pPr>
            <a:r>
              <a:rPr lang="es-ES" sz="1800" b="1" dirty="0">
                <a:solidFill>
                  <a:srgbClr val="6C5CE7"/>
                </a:solidFill>
              </a:rPr>
              <a:t>Arquitectura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11307EC-DD7D-4365-B9CC-39C49B6B84E4}"/>
              </a:ext>
            </a:extLst>
          </p:cNvPr>
          <p:cNvSpPr txBox="1"/>
          <p:nvPr/>
        </p:nvSpPr>
        <p:spPr>
          <a:xfrm>
            <a:off x="8026400" y="4432300"/>
            <a:ext cx="3175000" cy="13843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0" indent="0" algn="just">
              <a:buNone/>
            </a:pPr>
            <a:r>
              <a:rPr lang="es-ES" sz="1600" b="1" dirty="0">
                <a:solidFill>
                  <a:srgbClr val="F0F0F0"/>
                </a:solidFill>
              </a:rPr>
              <a:t>Permite crecer sin reescribir el sistema</a:t>
            </a:r>
          </a:p>
          <a:p>
            <a:pPr marL="0" indent="0" algn="just">
              <a:buNone/>
            </a:pPr>
            <a:r>
              <a:rPr lang="es-ES" sz="1600" dirty="0">
                <a:solidFill>
                  <a:srgbClr val="C8D6E5"/>
                </a:solidFill>
              </a:rPr>
              <a:t>Módulos independientes y escalables</a:t>
            </a:r>
          </a:p>
        </p:txBody>
      </p:sp>
      <p:pic>
        <p:nvPicPr>
          <p:cNvPr id="28" name="Graphic 28" descr="Python - Termina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60800" y="1752600"/>
            <a:ext cx="304800" cy="304800"/>
          </a:xfrm>
          <a:prstGeom prst="rect">
            <a:avLst/>
          </a:prstGeom>
        </p:spPr>
      </p:pic>
      <p:pic>
        <p:nvPicPr>
          <p:cNvPr id="29" name="Graphic 29" descr="LangGraph - Re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9000" y="1752600"/>
            <a:ext cx="304800" cy="304800"/>
          </a:xfrm>
          <a:prstGeom prst="rect">
            <a:avLst/>
          </a:prstGeom>
        </p:spPr>
      </p:pic>
      <p:pic>
        <p:nvPicPr>
          <p:cNvPr id="30" name="Graphic 30" descr="Claude - Cerebro I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17200" y="1752600"/>
            <a:ext cx="304800" cy="304800"/>
          </a:xfrm>
          <a:prstGeom prst="rect">
            <a:avLst/>
          </a:prstGeom>
        </p:spPr>
      </p:pic>
      <p:pic>
        <p:nvPicPr>
          <p:cNvPr id="31" name="Graphic 31" descr="Streamlit - Ray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60800" y="3949700"/>
            <a:ext cx="304800" cy="304800"/>
          </a:xfrm>
          <a:prstGeom prst="rect">
            <a:avLst/>
          </a:prstGeom>
        </p:spPr>
      </p:pic>
      <p:pic>
        <p:nvPicPr>
          <p:cNvPr id="32" name="Graphic 32" descr="Prompt Engineering - Lápiz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39000" y="3949700"/>
            <a:ext cx="304800" cy="304800"/>
          </a:xfrm>
          <a:prstGeom prst="rect">
            <a:avLst/>
          </a:prstGeom>
        </p:spPr>
      </p:pic>
      <p:pic>
        <p:nvPicPr>
          <p:cNvPr id="33" name="Graphic 33" descr="Arquitectura - Capa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17200" y="3949700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042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CB82F2-08F5-BE2F-C219-16EC26262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0" y="145211"/>
            <a:ext cx="10515600" cy="1320800"/>
          </a:xfrm>
        </p:spPr>
        <p:txBody>
          <a:bodyPr/>
          <a:lstStyle/>
          <a:p>
            <a:pPr algn="ctr">
              <a:buNone/>
            </a:pPr>
            <a:r>
              <a:rPr lang="es-CO" sz="3400" b="1" dirty="0">
                <a:solidFill>
                  <a:srgbClr val="00D4AA"/>
                </a:solidFill>
              </a:rPr>
              <a:t>Conclusiones</a:t>
            </a:r>
            <a:r>
              <a:rPr lang="es-CO" sz="3400" b="0" dirty="0">
                <a:solidFill>
                  <a:srgbClr val="F0F0F0"/>
                </a:solidFill>
              </a:rPr>
              <a:t> y Próximos Pasos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3068F9-715D-5B13-C035-CCA5231F0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46121"/>
            <a:ext cx="10515600" cy="1500187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s-CO" sz="2000" dirty="0">
                <a:solidFill>
                  <a:srgbClr val="C8D6E5"/>
                </a:solidFill>
              </a:rPr>
              <a:t>LangGraph + Claude + Streamlit = Soluciones de marketing inteligentes, escalables y modulares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3672B5B0-17CA-4508-8891-CCF46D2235DD}"/>
              </a:ext>
            </a:extLst>
          </p:cNvPr>
          <p:cNvSpPr/>
          <p:nvPr/>
        </p:nvSpPr>
        <p:spPr>
          <a:xfrm>
            <a:off x="0" y="5943600"/>
            <a:ext cx="12192000" cy="635000"/>
          </a:xfrm>
          <a:prstGeom prst="rect">
            <a:avLst/>
          </a:prstGeom>
          <a:solidFill>
            <a:srgbClr val="0D1B2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8F3913D-4292-4993-8826-93B8D87242BF}"/>
              </a:ext>
            </a:extLst>
          </p:cNvPr>
          <p:cNvSpPr/>
          <p:nvPr/>
        </p:nvSpPr>
        <p:spPr>
          <a:xfrm>
            <a:off x="0" y="5943600"/>
            <a:ext cx="12192000" cy="38100"/>
          </a:xfrm>
          <a:prstGeom prst="rect">
            <a:avLst/>
          </a:prstGeom>
          <a:solidFill>
            <a:srgbClr val="00D4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A9DDE26-543D-40B6-8C49-B2B1EFE9E1B6}"/>
              </a:ext>
            </a:extLst>
          </p:cNvPr>
          <p:cNvSpPr txBox="1"/>
          <p:nvPr/>
        </p:nvSpPr>
        <p:spPr>
          <a:xfrm>
            <a:off x="838200" y="6019800"/>
            <a:ext cx="105156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1400">
                <a:solidFill>
                  <a:srgbClr val="00D4AA"/>
                </a:solidFill>
              </a:rPr>
              <a:t>⚡ github.com/jaquimbayoc7/sistema-de-marketing-multiagentes</a:t>
            </a:r>
          </a:p>
        </p:txBody>
      </p:sp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89F2F2EC-B13D-41F7-B778-D421B7A4AEF4}"/>
              </a:ext>
            </a:extLst>
          </p:cNvPr>
          <p:cNvSpPr/>
          <p:nvPr/>
        </p:nvSpPr>
        <p:spPr>
          <a:xfrm>
            <a:off x="787400" y="2806700"/>
            <a:ext cx="2540000" cy="21590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00D4A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F28EC977-8B3F-4FFC-B619-94DB9D7E6861}"/>
              </a:ext>
            </a:extLst>
          </p:cNvPr>
          <p:cNvSpPr/>
          <p:nvPr/>
        </p:nvSpPr>
        <p:spPr>
          <a:xfrm>
            <a:off x="787400" y="2806700"/>
            <a:ext cx="2540000" cy="63500"/>
          </a:xfrm>
          <a:prstGeom prst="rect">
            <a:avLst/>
          </a:prstGeom>
          <a:solidFill>
            <a:srgbClr val="00D4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897028AB-7D4D-48F0-9F1F-13812F6DFCF2}"/>
              </a:ext>
            </a:extLst>
          </p:cNvPr>
          <p:cNvSpPr/>
          <p:nvPr/>
        </p:nvSpPr>
        <p:spPr>
          <a:xfrm>
            <a:off x="889000" y="2997200"/>
            <a:ext cx="355600" cy="355600"/>
          </a:xfrm>
          <a:prstGeom prst="ellipse">
            <a:avLst/>
          </a:prstGeom>
          <a:solidFill>
            <a:srgbClr val="00D4A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sz="1400" b="1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C0EF6BF-135F-4C8A-9B07-FB94F7D48A71}"/>
              </a:ext>
            </a:extLst>
          </p:cNvPr>
          <p:cNvSpPr txBox="1"/>
          <p:nvPr/>
        </p:nvSpPr>
        <p:spPr>
          <a:xfrm>
            <a:off x="1346200" y="2997200"/>
            <a:ext cx="1879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1600" b="1">
                <a:solidFill>
                  <a:srgbClr val="00D4AA"/>
                </a:solidFill>
              </a:rPr>
              <a:t>Más agentes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430251F3-BFBB-48EE-AA6A-A63983E7F5F3}"/>
              </a:ext>
            </a:extLst>
          </p:cNvPr>
          <p:cNvSpPr txBox="1"/>
          <p:nvPr/>
        </p:nvSpPr>
        <p:spPr>
          <a:xfrm>
            <a:off x="914400" y="3505200"/>
            <a:ext cx="23114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s-CO" dirty="0">
                <a:solidFill>
                  <a:srgbClr val="C8D6E5"/>
                </a:solidFill>
              </a:rPr>
              <a:t>SEO · </a:t>
            </a:r>
            <a:r>
              <a:rPr lang="es-CO" dirty="0" err="1">
                <a:solidFill>
                  <a:srgbClr val="C8D6E5"/>
                </a:solidFill>
              </a:rPr>
              <a:t>Ads</a:t>
            </a:r>
            <a:r>
              <a:rPr lang="es-CO" dirty="0">
                <a:solidFill>
                  <a:srgbClr val="C8D6E5"/>
                </a:solidFill>
              </a:rPr>
              <a:t> · </a:t>
            </a:r>
            <a:r>
              <a:rPr lang="es-CO" dirty="0" err="1">
                <a:solidFill>
                  <a:srgbClr val="C8D6E5"/>
                </a:solidFill>
              </a:rPr>
              <a:t>Analytics</a:t>
            </a:r>
            <a:endParaRPr lang="es-CO" dirty="0">
              <a:solidFill>
                <a:srgbClr val="C8D6E5"/>
              </a:solidFill>
            </a:endParaRPr>
          </a:p>
        </p:txBody>
      </p:sp>
      <p:sp>
        <p:nvSpPr>
          <p:cNvPr id="36" name="Rectángulo: esquinas redondeadas 35">
            <a:extLst>
              <a:ext uri="{FF2B5EF4-FFF2-40B4-BE49-F238E27FC236}">
                <a16:creationId xmlns:a16="http://schemas.microsoft.com/office/drawing/2014/main" id="{4FB5ECBD-A7E6-4911-87D2-96BC83CA275D}"/>
              </a:ext>
            </a:extLst>
          </p:cNvPr>
          <p:cNvSpPr/>
          <p:nvPr/>
        </p:nvSpPr>
        <p:spPr>
          <a:xfrm>
            <a:off x="3441700" y="2806700"/>
            <a:ext cx="2540000" cy="21590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7B68EE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B76CE7A6-3A46-4C3C-9A45-1BC026AE4226}"/>
              </a:ext>
            </a:extLst>
          </p:cNvPr>
          <p:cNvSpPr/>
          <p:nvPr/>
        </p:nvSpPr>
        <p:spPr>
          <a:xfrm>
            <a:off x="3441700" y="2806700"/>
            <a:ext cx="2540000" cy="63500"/>
          </a:xfrm>
          <a:prstGeom prst="rect">
            <a:avLst/>
          </a:prstGeom>
          <a:solidFill>
            <a:srgbClr val="7B68E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664E2D83-E37C-42A2-B4C4-D1E0BE81C1AA}"/>
              </a:ext>
            </a:extLst>
          </p:cNvPr>
          <p:cNvSpPr/>
          <p:nvPr/>
        </p:nvSpPr>
        <p:spPr>
          <a:xfrm>
            <a:off x="3543300" y="2997200"/>
            <a:ext cx="355600" cy="355600"/>
          </a:xfrm>
          <a:prstGeom prst="ellipse">
            <a:avLst/>
          </a:prstGeom>
          <a:solidFill>
            <a:srgbClr val="7B68E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sz="1400" b="1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1E4F0722-C488-45A2-8FF1-663FFAE49E3F}"/>
              </a:ext>
            </a:extLst>
          </p:cNvPr>
          <p:cNvSpPr txBox="1"/>
          <p:nvPr/>
        </p:nvSpPr>
        <p:spPr>
          <a:xfrm>
            <a:off x="4000500" y="2997200"/>
            <a:ext cx="1879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1400" b="1">
                <a:solidFill>
                  <a:srgbClr val="7B68EE"/>
                </a:solidFill>
              </a:rPr>
              <a:t>Memoria persistente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9AB72D7C-C18C-45EB-8BFF-EA90C50D6411}"/>
              </a:ext>
            </a:extLst>
          </p:cNvPr>
          <p:cNvSpPr txBox="1"/>
          <p:nvPr/>
        </p:nvSpPr>
        <p:spPr>
          <a:xfrm>
            <a:off x="3568700" y="3505200"/>
            <a:ext cx="23114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s-CO">
                <a:solidFill>
                  <a:srgbClr val="C8D6E5"/>
                </a:solidFill>
              </a:rPr>
              <a:t>Bases vectoriales</a:t>
            </a:r>
          </a:p>
        </p:txBody>
      </p:sp>
      <p:sp>
        <p:nvSpPr>
          <p:cNvPr id="41" name="Rectángulo: esquinas redondeadas 40">
            <a:extLst>
              <a:ext uri="{FF2B5EF4-FFF2-40B4-BE49-F238E27FC236}">
                <a16:creationId xmlns:a16="http://schemas.microsoft.com/office/drawing/2014/main" id="{9F2D1DDA-ED4C-427D-9DA5-A4E14D6559BD}"/>
              </a:ext>
            </a:extLst>
          </p:cNvPr>
          <p:cNvSpPr/>
          <p:nvPr/>
        </p:nvSpPr>
        <p:spPr>
          <a:xfrm>
            <a:off x="6096000" y="2806700"/>
            <a:ext cx="2540000" cy="21590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FF6B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E71FCDD0-E52B-4C56-881C-C5EE872F2AC5}"/>
              </a:ext>
            </a:extLst>
          </p:cNvPr>
          <p:cNvSpPr/>
          <p:nvPr/>
        </p:nvSpPr>
        <p:spPr>
          <a:xfrm>
            <a:off x="6096000" y="2806700"/>
            <a:ext cx="2540000" cy="63500"/>
          </a:xfrm>
          <a:prstGeom prst="rect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D873CA16-EAC3-4442-8148-EE93FF40A9AF}"/>
              </a:ext>
            </a:extLst>
          </p:cNvPr>
          <p:cNvSpPr/>
          <p:nvPr/>
        </p:nvSpPr>
        <p:spPr>
          <a:xfrm>
            <a:off x="6197600" y="2997200"/>
            <a:ext cx="355600" cy="355600"/>
          </a:xfrm>
          <a:prstGeom prst="ellipse">
            <a:avLst/>
          </a:prstGeom>
          <a:solidFill>
            <a:srgbClr val="FF6B6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sz="1400" b="1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F79DC12D-A090-4E34-A6F8-9BE815043BC8}"/>
              </a:ext>
            </a:extLst>
          </p:cNvPr>
          <p:cNvSpPr txBox="1"/>
          <p:nvPr/>
        </p:nvSpPr>
        <p:spPr>
          <a:xfrm>
            <a:off x="6654800" y="2997200"/>
            <a:ext cx="1879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1600" b="1">
                <a:solidFill>
                  <a:srgbClr val="FF6B6B"/>
                </a:solidFill>
              </a:rPr>
              <a:t>APIs externas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233EE14B-1193-464E-B932-A402D09DEB03}"/>
              </a:ext>
            </a:extLst>
          </p:cNvPr>
          <p:cNvSpPr txBox="1"/>
          <p:nvPr/>
        </p:nvSpPr>
        <p:spPr>
          <a:xfrm>
            <a:off x="6223000" y="3505200"/>
            <a:ext cx="23114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s-CO">
                <a:solidFill>
                  <a:srgbClr val="C8D6E5"/>
                </a:solidFill>
              </a:rPr>
              <a:t>Meta · Google Ads</a:t>
            </a:r>
          </a:p>
        </p:txBody>
      </p:sp>
      <p:sp>
        <p:nvSpPr>
          <p:cNvPr id="46" name="Rectángulo: esquinas redondeadas 45">
            <a:extLst>
              <a:ext uri="{FF2B5EF4-FFF2-40B4-BE49-F238E27FC236}">
                <a16:creationId xmlns:a16="http://schemas.microsoft.com/office/drawing/2014/main" id="{EF8E2F2D-47D6-4F02-839E-CD7DA70C5D00}"/>
              </a:ext>
            </a:extLst>
          </p:cNvPr>
          <p:cNvSpPr/>
          <p:nvPr/>
        </p:nvSpPr>
        <p:spPr>
          <a:xfrm>
            <a:off x="8750300" y="2806700"/>
            <a:ext cx="2540000" cy="2159000"/>
          </a:xfrm>
          <a:prstGeom prst="roundRect">
            <a:avLst/>
          </a:prstGeom>
          <a:solidFill>
            <a:srgbClr val="1B2838"/>
          </a:solidFill>
          <a:ln w="19050" cap="flat" cmpd="sng" algn="ctr">
            <a:solidFill>
              <a:srgbClr val="FFD93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76904533-397A-47DA-BA07-DB2A039F6E68}"/>
              </a:ext>
            </a:extLst>
          </p:cNvPr>
          <p:cNvSpPr/>
          <p:nvPr/>
        </p:nvSpPr>
        <p:spPr>
          <a:xfrm>
            <a:off x="8750300" y="2806700"/>
            <a:ext cx="2540000" cy="63500"/>
          </a:xfrm>
          <a:prstGeom prst="rect">
            <a:avLst/>
          </a:prstGeom>
          <a:solidFill>
            <a:srgbClr val="FFD9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s-CO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77D7BF0B-391D-4EB9-942B-596364763245}"/>
              </a:ext>
            </a:extLst>
          </p:cNvPr>
          <p:cNvSpPr/>
          <p:nvPr/>
        </p:nvSpPr>
        <p:spPr>
          <a:xfrm>
            <a:off x="8851900" y="2997200"/>
            <a:ext cx="355600" cy="355600"/>
          </a:xfrm>
          <a:prstGeom prst="ellipse">
            <a:avLst/>
          </a:prstGeom>
          <a:solidFill>
            <a:srgbClr val="FFD9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s-CO" sz="1400" b="1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8293139F-C0BE-4B9C-9DC7-EED912B4AE0A}"/>
              </a:ext>
            </a:extLst>
          </p:cNvPr>
          <p:cNvSpPr txBox="1"/>
          <p:nvPr/>
        </p:nvSpPr>
        <p:spPr>
          <a:xfrm>
            <a:off x="9309100" y="2997200"/>
            <a:ext cx="1879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CO" sz="1600" b="1">
                <a:solidFill>
                  <a:srgbClr val="FFD93D"/>
                </a:solidFill>
              </a:rPr>
              <a:t>Producción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C4280E81-9FA6-4ED6-9B69-7D60AFD01ED4}"/>
              </a:ext>
            </a:extLst>
          </p:cNvPr>
          <p:cNvSpPr txBox="1"/>
          <p:nvPr/>
        </p:nvSpPr>
        <p:spPr>
          <a:xfrm>
            <a:off x="8877300" y="3505200"/>
            <a:ext cx="23114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es-CO">
                <a:solidFill>
                  <a:srgbClr val="C8D6E5"/>
                </a:solidFill>
              </a:rPr>
              <a:t>Despliegue + monitoreo</a:t>
            </a:r>
          </a:p>
        </p:txBody>
      </p:sp>
      <p:pic>
        <p:nvPicPr>
          <p:cNvPr id="51" name="Graphic 27" descr="Más agentes IA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70200" y="2870200"/>
            <a:ext cx="355600" cy="355600"/>
          </a:xfrm>
          <a:prstGeom prst="rect">
            <a:avLst/>
          </a:prstGeom>
        </p:spPr>
      </p:pic>
      <p:pic>
        <p:nvPicPr>
          <p:cNvPr id="52" name="Graphic 28" descr="Memoria persistent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24500" y="2870200"/>
            <a:ext cx="355600" cy="355600"/>
          </a:xfrm>
          <a:prstGeom prst="rect">
            <a:avLst/>
          </a:prstGeom>
        </p:spPr>
      </p:pic>
      <p:pic>
        <p:nvPicPr>
          <p:cNvPr id="53" name="Graphic 29" descr="APIs externa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78800" y="2870200"/>
            <a:ext cx="355600" cy="355600"/>
          </a:xfrm>
          <a:prstGeom prst="rect">
            <a:avLst/>
          </a:prstGeom>
        </p:spPr>
      </p:pic>
      <p:pic>
        <p:nvPicPr>
          <p:cNvPr id="54" name="Graphic 30" descr="Producción y monitoreo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3100" y="28702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4502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8CA999-9387-5666-7C9B-628E6FF8C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buNone/>
            </a:pPr>
            <a:r>
              <a:rPr lang="es-CO" sz="2800" b="1" dirty="0">
                <a:solidFill>
                  <a:srgbClr val="00D4AA"/>
                </a:solidFill>
              </a:rPr>
              <a:t>Software Libre</a:t>
            </a:r>
            <a:r>
              <a:rPr lang="es-CO" sz="2200" b="0" dirty="0">
                <a:solidFill>
                  <a:srgbClr val="C8D6E5"/>
                </a:solidFill>
              </a:rPr>
              <a:t>  y este Proyecto</a:t>
            </a:r>
          </a:p>
        </p:txBody>
      </p:sp>
      <p:sp>
        <p:nvSpPr>
          <p:cNvPr id="101" name="Card101"/>
          <p:cNvSpPr>
            <a:spLocks noGrp="1"/>
          </p:cNvSpPr>
          <p:nvPr/>
        </p:nvSpPr>
        <p:spPr>
          <a:xfrm>
            <a:off x="838200" y="1651000"/>
            <a:ext cx="5156200" cy="2057400"/>
          </a:xfrm>
          <a:prstGeom prst="roundRect">
            <a:avLst>
              <a:gd name="adj" fmla="val 8000"/>
            </a:avLst>
          </a:prstGeom>
          <a:solidFill>
            <a:srgbClr val="1B2838"/>
          </a:solidFill>
          <a:ln>
            <a:solidFill>
              <a:srgbClr val="00D4A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2" name="Bar102"/>
          <p:cNvSpPr/>
          <p:nvPr/>
        </p:nvSpPr>
        <p:spPr>
          <a:xfrm>
            <a:off x="838200" y="1651000"/>
            <a:ext cx="5156200" cy="635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Num103"/>
          <p:cNvSpPr/>
          <p:nvPr/>
        </p:nvSpPr>
        <p:spPr>
          <a:xfrm>
            <a:off x="990600" y="1803400"/>
            <a:ext cx="355600" cy="35560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s-ES" sz="1100" b="1" dirty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104" name="CardTitle104"/>
          <p:cNvSpPr/>
          <p:nvPr/>
        </p:nvSpPr>
        <p:spPr>
          <a:xfrm>
            <a:off x="1447800" y="1803400"/>
            <a:ext cx="4394200" cy="381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just">
              <a:buNone/>
            </a:pPr>
            <a:r>
              <a:rPr lang="es-ES" sz="2000" b="1" dirty="0">
                <a:solidFill>
                  <a:srgbClr val="00D4AA"/>
                </a:solidFill>
              </a:rPr>
              <a:t>100% Herramientas Open Source</a:t>
            </a:r>
          </a:p>
        </p:txBody>
      </p:sp>
      <p:sp>
        <p:nvSpPr>
          <p:cNvPr id="105" name="CardDesc105"/>
          <p:cNvSpPr/>
          <p:nvPr/>
        </p:nvSpPr>
        <p:spPr>
          <a:xfrm>
            <a:off x="990600" y="2311400"/>
            <a:ext cx="4851400" cy="127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just">
              <a:buNone/>
            </a:pPr>
            <a:r>
              <a:rPr lang="es-ES" dirty="0">
                <a:solidFill>
                  <a:srgbClr val="C8D6E5"/>
                </a:solidFill>
              </a:rPr>
              <a:t>Python, LangGraph, Streamlit y Claude API — todo el stack es gratuito, auditável y reproducible por cualquier persona o institución.</a:t>
            </a:r>
          </a:p>
        </p:txBody>
      </p:sp>
      <p:sp>
        <p:nvSpPr>
          <p:cNvPr id="106" name="Card106"/>
          <p:cNvSpPr>
            <a:spLocks noGrp="1"/>
          </p:cNvSpPr>
          <p:nvPr/>
        </p:nvSpPr>
        <p:spPr>
          <a:xfrm>
            <a:off x="6096000" y="1651000"/>
            <a:ext cx="5156200" cy="2057400"/>
          </a:xfrm>
          <a:prstGeom prst="roundRect">
            <a:avLst>
              <a:gd name="adj" fmla="val 8000"/>
            </a:avLst>
          </a:prstGeom>
          <a:solidFill>
            <a:srgbClr val="1B2838"/>
          </a:solidFill>
          <a:ln>
            <a:solidFill>
              <a:srgbClr val="7B68EE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7" name="Bar107"/>
          <p:cNvSpPr/>
          <p:nvPr/>
        </p:nvSpPr>
        <p:spPr>
          <a:xfrm>
            <a:off x="6096000" y="1651000"/>
            <a:ext cx="5156200" cy="63500"/>
          </a:xfrm>
          <a:prstGeom prst="rect">
            <a:avLst/>
          </a:prstGeom>
          <a:solidFill>
            <a:srgbClr val="7B68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" name="Num108"/>
          <p:cNvSpPr/>
          <p:nvPr/>
        </p:nvSpPr>
        <p:spPr>
          <a:xfrm>
            <a:off x="6248400" y="1803400"/>
            <a:ext cx="355600" cy="35560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s-ES" sz="1100" b="1" dirty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109" name="CardTitle109"/>
          <p:cNvSpPr/>
          <p:nvPr/>
        </p:nvSpPr>
        <p:spPr>
          <a:xfrm>
            <a:off x="6705600" y="1803400"/>
            <a:ext cx="4394200" cy="381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just">
              <a:buNone/>
            </a:pPr>
            <a:r>
              <a:rPr lang="es-ES" sz="2000" b="1" dirty="0">
                <a:solidFill>
                  <a:srgbClr val="7B68EE"/>
                </a:solidFill>
              </a:rPr>
              <a:t>Sin vendor lock-in</a:t>
            </a:r>
          </a:p>
        </p:txBody>
      </p:sp>
      <p:sp>
        <p:nvSpPr>
          <p:cNvPr id="110" name="CardDesc110"/>
          <p:cNvSpPr/>
          <p:nvPr/>
        </p:nvSpPr>
        <p:spPr>
          <a:xfrm>
            <a:off x="6248400" y="2311400"/>
            <a:ext cx="4851400" cy="127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just">
              <a:buNone/>
            </a:pPr>
            <a:r>
              <a:rPr lang="es-ES" dirty="0">
                <a:solidFill>
                  <a:srgbClr val="C8D6E5"/>
                </a:solidFill>
              </a:rPr>
              <a:t>Al usar software libre, el proyecto puede migrar, modificarse o mejorarse sin depender de licencias comerciales ni proveedores únicos.</a:t>
            </a:r>
          </a:p>
        </p:txBody>
      </p:sp>
      <p:sp>
        <p:nvSpPr>
          <p:cNvPr id="111" name="Card111"/>
          <p:cNvSpPr>
            <a:spLocks noGrp="1"/>
          </p:cNvSpPr>
          <p:nvPr/>
        </p:nvSpPr>
        <p:spPr>
          <a:xfrm>
            <a:off x="838200" y="3810000"/>
            <a:ext cx="5156200" cy="2057400"/>
          </a:xfrm>
          <a:prstGeom prst="roundRect">
            <a:avLst>
              <a:gd name="adj" fmla="val 8000"/>
            </a:avLst>
          </a:prstGeom>
          <a:solidFill>
            <a:srgbClr val="1B2838"/>
          </a:solidFill>
          <a:ln>
            <a:solidFill>
              <a:srgbClr val="FF6B6B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2" name="Bar112"/>
          <p:cNvSpPr/>
          <p:nvPr/>
        </p:nvSpPr>
        <p:spPr>
          <a:xfrm>
            <a:off x="838200" y="3810000"/>
            <a:ext cx="5156200" cy="635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Num113"/>
          <p:cNvSpPr/>
          <p:nvPr/>
        </p:nvSpPr>
        <p:spPr>
          <a:xfrm>
            <a:off x="990600" y="3962400"/>
            <a:ext cx="355600" cy="3556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s-ES" sz="1100" b="1" dirty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114" name="CardTitle114"/>
          <p:cNvSpPr/>
          <p:nvPr/>
        </p:nvSpPr>
        <p:spPr>
          <a:xfrm>
            <a:off x="1447800" y="3962400"/>
            <a:ext cx="4394200" cy="381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just">
              <a:buNone/>
            </a:pPr>
            <a:r>
              <a:rPr lang="es-ES" sz="2000" b="1" dirty="0">
                <a:solidFill>
                  <a:srgbClr val="FF6B6B"/>
                </a:solidFill>
              </a:rPr>
              <a:t>Comunidad y colaboración</a:t>
            </a:r>
          </a:p>
        </p:txBody>
      </p:sp>
      <p:sp>
        <p:nvSpPr>
          <p:cNvPr id="115" name="CardDesc115"/>
          <p:cNvSpPr/>
          <p:nvPr/>
        </p:nvSpPr>
        <p:spPr>
          <a:xfrm>
            <a:off x="990600" y="4470400"/>
            <a:ext cx="4851400" cy="127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just">
              <a:buNone/>
            </a:pPr>
            <a:r>
              <a:rPr lang="es-ES" dirty="0">
                <a:solidFill>
                  <a:srgbClr val="C8D6E5"/>
                </a:solidFill>
              </a:rPr>
              <a:t>FLISol existe para difundir el software libre. Este proyecto es un ejemplo vivo: IA multiagente accesible, documentada y compartible.</a:t>
            </a:r>
          </a:p>
        </p:txBody>
      </p:sp>
      <p:sp>
        <p:nvSpPr>
          <p:cNvPr id="116" name="Card116"/>
          <p:cNvSpPr>
            <a:spLocks noGrp="1"/>
          </p:cNvSpPr>
          <p:nvPr/>
        </p:nvSpPr>
        <p:spPr>
          <a:xfrm>
            <a:off x="6096000" y="3810000"/>
            <a:ext cx="5156200" cy="2057400"/>
          </a:xfrm>
          <a:prstGeom prst="roundRect">
            <a:avLst>
              <a:gd name="adj" fmla="val 8000"/>
            </a:avLst>
          </a:prstGeom>
          <a:solidFill>
            <a:srgbClr val="1B2838"/>
          </a:solidFill>
          <a:ln>
            <a:solidFill>
              <a:srgbClr val="FFD93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7" name="Bar117"/>
          <p:cNvSpPr/>
          <p:nvPr/>
        </p:nvSpPr>
        <p:spPr>
          <a:xfrm>
            <a:off x="6096000" y="3810000"/>
            <a:ext cx="5156200" cy="635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8" name="Num118"/>
          <p:cNvSpPr/>
          <p:nvPr/>
        </p:nvSpPr>
        <p:spPr>
          <a:xfrm>
            <a:off x="6248400" y="3962400"/>
            <a:ext cx="355600" cy="35560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s-ES" sz="1100" b="1" dirty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119" name="CardTitle119"/>
          <p:cNvSpPr/>
          <p:nvPr/>
        </p:nvSpPr>
        <p:spPr>
          <a:xfrm>
            <a:off x="6705600" y="3962400"/>
            <a:ext cx="4394200" cy="381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just">
              <a:buNone/>
            </a:pPr>
            <a:r>
              <a:rPr lang="es-ES" sz="2000" b="1" dirty="0">
                <a:solidFill>
                  <a:srgbClr val="FFD93D"/>
                </a:solidFill>
              </a:rPr>
              <a:t>Educación y soberanía tecnológica</a:t>
            </a:r>
          </a:p>
        </p:txBody>
      </p:sp>
      <p:sp>
        <p:nvSpPr>
          <p:cNvPr id="120" name="CardDesc120"/>
          <p:cNvSpPr/>
          <p:nvPr/>
        </p:nvSpPr>
        <p:spPr>
          <a:xfrm>
            <a:off x="6248400" y="4470400"/>
            <a:ext cx="4851400" cy="127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just">
              <a:buNone/>
            </a:pPr>
            <a:r>
              <a:rPr lang="es-ES" dirty="0">
                <a:solidFill>
                  <a:srgbClr val="C8D6E5"/>
                </a:solidFill>
              </a:rPr>
              <a:t>Cualquier estudiante o desarrollador puede replicarlo, aprenderlo y extenderlo — sin barreras económicas ni restricciones de uso.</a:t>
            </a:r>
          </a:p>
        </p:txBody>
      </p:sp>
    </p:spTree>
    <p:extLst>
      <p:ext uri="{BB962C8B-B14F-4D97-AF65-F5344CB8AC3E}">
        <p14:creationId xmlns:p14="http://schemas.microsoft.com/office/powerpoint/2010/main" val="3453116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1"/>
          <p:cNvSpPr/>
          <p:nvPr/>
        </p:nvSpPr>
        <p:spPr>
          <a:xfrm>
            <a:off x="0" y="5461000"/>
            <a:ext cx="12192000" cy="635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Gracias"/>
          <p:cNvSpPr/>
          <p:nvPr/>
        </p:nvSpPr>
        <p:spPr>
          <a:xfrm>
            <a:off x="0" y="1778000"/>
            <a:ext cx="12192000" cy="2540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s-CO" sz="8000" b="1" dirty="0">
                <a:solidFill>
                  <a:srgbClr val="00D4AA"/>
                </a:solidFill>
              </a:rPr>
              <a:t>Gracias</a:t>
            </a:r>
          </a:p>
        </p:txBody>
      </p:sp>
      <p:sp>
        <p:nvSpPr>
          <p:cNvPr id="12" name="Sub"/>
          <p:cNvSpPr/>
          <p:nvPr/>
        </p:nvSpPr>
        <p:spPr>
          <a:xfrm>
            <a:off x="2286000" y="43815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s-CO" sz="1800" dirty="0">
                <a:solidFill>
                  <a:srgbClr val="C8D6E5"/>
                </a:solidFill>
              </a:rPr>
              <a:t>Sistema de Marketing con Multiagentes de IA</a:t>
            </a:r>
          </a:p>
        </p:txBody>
      </p:sp>
      <p:sp>
        <p:nvSpPr>
          <p:cNvPr id="13" name="Footer"/>
          <p:cNvSpPr/>
          <p:nvPr/>
        </p:nvSpPr>
        <p:spPr>
          <a:xfrm>
            <a:off x="0" y="5651500"/>
            <a:ext cx="12192000" cy="952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="ctr"/>
          <a:lstStyle/>
          <a:p>
            <a:pPr algn="ctr">
              <a:buNone/>
            </a:pPr>
            <a:r>
              <a:rPr lang="es-CO" sz="1400" b="1" dirty="0">
                <a:solidFill>
                  <a:srgbClr val="00D4AA"/>
                </a:solidFill>
              </a:rPr>
              <a:t>FLISol 2026  </a:t>
            </a:r>
            <a:r>
              <a:rPr lang="es-CO" sz="1400" dirty="0">
                <a:solidFill>
                  <a:srgbClr val="C8D6E5"/>
                </a:solidFill>
              </a:rPr>
              <a:t>·  CORHUILA  ·  </a:t>
            </a:r>
            <a:r>
              <a:rPr lang="es-CO" sz="1400" b="1" dirty="0">
                <a:solidFill>
                  <a:srgbClr val="F0F0F0"/>
                </a:solidFill>
              </a:rPr>
              <a:t>github.com/jaquimbayoc7/sistema-de-marketing-multiagentes</a:t>
            </a:r>
          </a:p>
        </p:txBody>
      </p:sp>
      <p:sp>
        <p:nvSpPr>
          <p:cNvPr id="14" name="Dot1"/>
          <p:cNvSpPr/>
          <p:nvPr/>
        </p:nvSpPr>
        <p:spPr>
          <a:xfrm>
            <a:off x="838200" y="4508500"/>
            <a:ext cx="177800" cy="177800"/>
          </a:xfrm>
          <a:prstGeom prst="ellipse">
            <a:avLst/>
          </a:prstGeom>
          <a:solidFill>
            <a:srgbClr val="7B68E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Dot2"/>
          <p:cNvSpPr/>
          <p:nvPr/>
        </p:nvSpPr>
        <p:spPr>
          <a:xfrm>
            <a:off x="11125200" y="4508500"/>
            <a:ext cx="177800" cy="1778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12126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 [1777488325344]">
  <a:themeElements>
    <a:clrScheme name="AI Agents">
      <a:dk1>
        <a:srgbClr val="F0F0F0"/>
      </a:dk1>
      <a:lt1>
        <a:srgbClr val="0D1B2A"/>
      </a:lt1>
      <a:dk2>
        <a:srgbClr val="C8D6E5"/>
      </a:dk2>
      <a:lt2>
        <a:srgbClr val="1B2838"/>
      </a:lt2>
      <a:accent1>
        <a:srgbClr val="00D4AA"/>
      </a:accent1>
      <a:accent2>
        <a:srgbClr val="7B68EE"/>
      </a:accent2>
      <a:accent3>
        <a:srgbClr val="FF6B6B"/>
      </a:accent3>
      <a:accent4>
        <a:srgbClr val="4ECDC4"/>
      </a:accent4>
      <a:accent5>
        <a:srgbClr val="FFD93D"/>
      </a:accent5>
      <a:accent6>
        <a:srgbClr val="6C5CE7"/>
      </a:accent6>
      <a:hlink>
        <a:srgbClr val="467886"/>
      </a:hlink>
      <a:folHlink>
        <a:srgbClr val="96607D"/>
      </a:folHlink>
    </a:clrScheme>
    <a:fontScheme name="AI Agents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FD34495-5231-4323-B960-5C6882E336A4}">
  <we:reference id="wa200010001" version="1.0.0.1" store="es-ES" storeType="OMEX"/>
  <we:alternateReferences>
    <we:reference id="WA200010001" version="1.0.0.1" store="" storeType="OMEX"/>
  </we:alternateReferences>
  <we:properties>
    <we:property name="claude.fileId" value="&quot;622b24fd-2889-417b-8085-a419f30c8f9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1292</Words>
  <Application>Microsoft Office PowerPoint</Application>
  <PresentationFormat>Panorámica</PresentationFormat>
  <Paragraphs>264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Montserrat</vt:lpstr>
      <vt:lpstr>Open Sans</vt:lpstr>
      <vt:lpstr>Tema de Office [1777488325344]</vt:lpstr>
      <vt:lpstr>Sistema de Marketing con Multiagentes</vt:lpstr>
      <vt:lpstr>Agenda</vt:lpstr>
      <vt:lpstr>¿Qué es un Agente de IA?</vt:lpstr>
      <vt:lpstr>Anatomía de un Agente</vt:lpstr>
      <vt:lpstr>Sistemas Multiagentes</vt:lpstr>
      <vt:lpstr>Patrones de Arquitectura Multiagente</vt:lpstr>
      <vt:lpstr>LangGraph — Grafos de Estado para Agentes</vt:lpstr>
      <vt:lpstr>Componentes de LangGraph</vt:lpstr>
      <vt:lpstr>Claude como Motor del Sistema</vt:lpstr>
      <vt:lpstr>Buenas Prácticas con Claude</vt:lpstr>
      <vt:lpstr>Streamlit como Frontend</vt:lpstr>
      <vt:lpstr>Arquitectura del Proyecto</vt:lpstr>
      <vt:lpstr>Agentes Especializados del Sistema</vt:lpstr>
      <vt:lpstr>Flujo de Trabajo: De Solicitud a Entregable</vt:lpstr>
      <vt:lpstr>Presentación de PowerPoint</vt:lpstr>
      <vt:lpstr>Skills Clave  y su impacto en el proyecto</vt:lpstr>
      <vt:lpstr>Conclusiones y Próximos Pasos</vt:lpstr>
      <vt:lpstr>Software Libre  y este Proyecto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QUIMBAYO CASTRO</dc:creator>
  <cp:lastModifiedBy>JULIAN QUIMBAYO CASTRO</cp:lastModifiedBy>
  <cp:revision>11</cp:revision>
  <dcterms:created xsi:type="dcterms:W3CDTF">2026-04-29T16:04:41Z</dcterms:created>
  <dcterms:modified xsi:type="dcterms:W3CDTF">2026-04-29T19:02:32Z</dcterms:modified>
</cp:coreProperties>
</file>